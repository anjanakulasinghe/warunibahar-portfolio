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3" r:id="rId27"/>
    <p:sldId id="285" r:id="rId28"/>
    <p:sldId id="287"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4" autoAdjust="0"/>
    <p:restoredTop sz="94660"/>
  </p:normalViewPr>
  <p:slideViewPr>
    <p:cSldViewPr snapToGrid="0">
      <p:cViewPr varScale="1">
        <p:scale>
          <a:sx n="150" d="100"/>
          <a:sy n="150" d="100"/>
        </p:scale>
        <p:origin x="62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Z"/>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0C322F-C1AB-4615-BA31-DC098ACB0A8C}" type="datetimeFigureOut">
              <a:rPr lang="en-NZ" smtClean="0"/>
              <a:t>2/07/2026</a:t>
            </a:fld>
            <a:endParaRPr lang="en-NZ"/>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Z"/>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Z"/>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7659C2-51B1-4DA3-B4CF-5AEDE2BB2489}" type="slidenum">
              <a:rPr lang="en-NZ" smtClean="0"/>
              <a:t>‹#›</a:t>
            </a:fld>
            <a:endParaRPr lang="en-NZ"/>
          </a:p>
        </p:txBody>
      </p:sp>
    </p:spTree>
    <p:extLst>
      <p:ext uri="{BB962C8B-B14F-4D97-AF65-F5344CB8AC3E}">
        <p14:creationId xmlns:p14="http://schemas.microsoft.com/office/powerpoint/2010/main" val="16449720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Opening (</a:t>
            </a:r>
            <a:r>
              <a:rPr lang="en-NZ" sz="1200" b="1" kern="1200" dirty="0">
                <a:solidFill>
                  <a:schemeClr val="tx1"/>
                </a:solidFill>
                <a:effectLst/>
                <a:latin typeface="+mn-lt"/>
                <a:ea typeface="+mn-ea"/>
                <a:cs typeface="+mn-cs"/>
              </a:rPr>
              <a:t>Yusof/Hari</a:t>
            </a:r>
            <a:r>
              <a:rPr lang="en-US" dirty="0"/>
              <a:t>, 45 seconds):
Welcome the audience and introduce the project. Explain that this presentation is the final recorded presentation for Assessment 8. Mention the team members and that the project migrated a WordPress infrastructure into a secure multi-cloud design using AWS, Azure and Fortinet.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sz="1200" b="1" kern="1200" dirty="0">
                <a:solidFill>
                  <a:schemeClr val="tx1"/>
                </a:solidFill>
                <a:effectLst/>
                <a:latin typeface="+mn-lt"/>
                <a:ea typeface="+mn-ea"/>
                <a:cs typeface="+mn-cs"/>
              </a:rPr>
              <a:t>Yusof/Hari</a:t>
            </a:r>
            <a:r>
              <a:rPr lang="en-US" dirty="0"/>
              <a:t>, 45 seconds:
Walk through the flow of the presentation. Emphasise that the structure follows the assignment phases, but the language will be presented as a project journey. State that the timing keeps the video close to 30 minutes.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sz="1200" b="1" kern="1200" dirty="0">
                <a:solidFill>
                  <a:schemeClr val="tx1"/>
                </a:solidFill>
                <a:effectLst/>
                <a:latin typeface="+mn-lt"/>
                <a:ea typeface="+mn-ea"/>
                <a:cs typeface="+mn-cs"/>
              </a:rPr>
              <a:t>Yusof/Hari</a:t>
            </a:r>
            <a:r>
              <a:rPr lang="en-US" dirty="0"/>
              <a:t>, 1 minute:
Describe the scenario in plain language. The project was to plan and demonstrate a secure migration of a WordPress environment. AWS hosts the main workload, Azure supports identity and DNS, and FortiGate is included as the security layer.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sz="1200" b="1" kern="1200" dirty="0">
                <a:solidFill>
                  <a:schemeClr val="tx1"/>
                </a:solidFill>
                <a:effectLst/>
                <a:latin typeface="+mn-lt"/>
                <a:ea typeface="+mn-ea"/>
                <a:cs typeface="+mn-cs"/>
              </a:rPr>
              <a:t>Yusof/Hari</a:t>
            </a:r>
            <a:r>
              <a:rPr lang="en-US" dirty="0"/>
              <a:t>, 1 minute:
Explain that success was not just deploying resources. The team needed to show security, integration, testing and documentation. This slide gives the marker a simple way to see what “done” means for the project.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sz="1200" b="1" kern="1200" dirty="0">
                <a:solidFill>
                  <a:schemeClr val="tx1"/>
                </a:solidFill>
                <a:effectLst/>
                <a:latin typeface="+mn-lt"/>
                <a:ea typeface="+mn-ea"/>
                <a:cs typeface="+mn-cs"/>
              </a:rPr>
              <a:t>Yusof/Hari</a:t>
            </a:r>
            <a:r>
              <a:rPr lang="en-US" dirty="0"/>
              <a:t>, 1 minute:
Explain the role split. Mention that the team did not work as isolated individuals; the split helped accountability, while final checking and testing were shared. This slide is important because Assessment 8 gives 50% to team communication.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sz="1200" b="1" kern="1200" dirty="0">
                <a:solidFill>
                  <a:schemeClr val="tx1"/>
                </a:solidFill>
                <a:effectLst/>
                <a:latin typeface="+mn-lt"/>
                <a:ea typeface="+mn-ea"/>
                <a:cs typeface="+mn-cs"/>
              </a:rPr>
              <a:t>Yusof/Hari</a:t>
            </a:r>
            <a:r>
              <a:rPr lang="en-US" dirty="0"/>
              <a:t>, 1 minute:
Talk through how the group communicated. Mention meetings, shared documents, screenshot collection and final review. Keep it practical: the aim was to avoid duplicate work and make sure each member knew their part.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Geni, 1.2 minutes:
Use the architecture diagram as the main visual. Explain the boundaries: AWS workload hosting, Azure identity and DNS, FortiGate as firewall/VPN security component. Point out public and private areas and explain why the database should not be public.</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Geni, 1 minute:
Summarise the security approach before going into technical details. The key idea is layered security: network control, identity control, encryption, monitoring and backup. Mention that the Security Group issue later proves why these checks matter.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Geni, 1.2 minutes:
Explain that the AWS implementation started with the VPC design. Public resources need internet access, but private resources should not be directly reachable. NAT Gateway helps private resources reach updates while avoiding public inbound access.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Geni, 1.2 minutes:
Talk about the Security Group design and IAM. Emphasise that the team reviewed inbound rules carefully because an open SSH or database rule can quickly become a security issue. Mention IAM roles reduce the need to store keys.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Geni, 1 minute:
Explain the data protection choices. RDS stores the database, S3 stores backup-related data, and encryption protects data at rest. Snapshots are useful if something is misconfigured or deleted.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Geni, 1 minute:
Explain how availability was improved. Instead of relying on one standalone instance, the Load Balancer and Auto Scaling Group support health checks and replacement. This makes the WordPress deployment closer to a real cloud design.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Geni, 1 minute:
Explain that monitoring is not only for uptime. CloudTrail helps with configuration change review, while CloudWatch/SNS helps detect operational events. This links directly to the incident analysis later.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Geni, 1 minute:
Describe the purpose of OpenVPN and FortiGate from a practical perspective. The project wanted controlled management access rather than leaving private systems exposed to the internet.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Geni, 1 minute:
Explain that WordPress was the practical workload used to demonstrate the migration. The site, database, Load Balancer, HTTPS and DNS together prove that the architecture was not just theoretical.</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Yusof, 1.4 minutes:
Explain the Azure responsibilities. Subscription validation came first. RBAC and MFA protected Azure access. Azure DNS was then used to connect the public domain side of the project to the AWS-hosted WordPress workload.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Yusof, 1.4 minutes:
Explain the key integration result. The website was hosted in AWS, but the public DNS part was configured in Azure. The final test was secure HTTPS access through the Azure-managed DNS name.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Geni, 1.2 minutes:
Explain Fortinet at a high level. FortiGate was included so the design did not rely only on AWS and Azure default controls. It supports firewall, VPN and traffic-control thinking between cloud environments.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Geni, 1.2 minutes:
Summarise the integration. Mention that because AWS, Azure and FortiGate are separate platforms, the proof appears across different screenshots. The integration is shown by how the services worked together in the final design.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Geni, 1 minute:
This slide helps the audience see the security coverage quickly. Explain each platform’s job and emphasise layered controls. This is directly connected to Task 2 of Assessment 8.</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Hari, 1.2 minutes:
Explain how the risk assessment was built. Keep it practical: small mistakes like wrong Security Groups, DNS records, or firewall policies can create big problems. Mention the risk table and mitigation strategies.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Hari, 1.1 minutes:
Walk through the major risks and mitigations. The aim is to show that the group thought about both security and operational risks. Keep the explanation short but clear.</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Hari, 1.3 minutes:
Explain the incident in the same practical way as the report. Do not overstate it as a major breach. It was a configuration issue found during project testing. The risk was public SSH exposure, even with key-based authentication.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Hari, 1 minute:
Use this slide to explain the timeline without reading every row. The key message is that the team identified, confirmed, corrected and documented the issue.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Hari, 1 minute:
Explain that incident analysis needs evidence. In this project, some evidence was direct configuration evidence, while logs were identified as the correct places to review for future troubleshooting.</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sz="1200" b="1" kern="1200" dirty="0">
                <a:solidFill>
                  <a:schemeClr val="tx1"/>
                </a:solidFill>
                <a:effectLst/>
                <a:latin typeface="+mn-lt"/>
                <a:ea typeface="+mn-ea"/>
                <a:cs typeface="+mn-cs"/>
              </a:rPr>
              <a:t>Geni/Yusof/Hari</a:t>
            </a:r>
            <a:r>
              <a:rPr lang="en-US" dirty="0"/>
              <a:t>, 1 minute:
Summarise the key learning. Keep it natural. The biggest lesson is that secure multi-cloud design depends on planning, access control, communication and review.</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sz="1200" b="1" kern="1200" dirty="0">
                <a:solidFill>
                  <a:schemeClr val="tx1"/>
                </a:solidFill>
                <a:effectLst/>
                <a:latin typeface="+mn-lt"/>
                <a:ea typeface="+mn-ea"/>
                <a:cs typeface="+mn-cs"/>
              </a:rPr>
              <a:t>Geni/Yusof/Hari</a:t>
            </a:r>
            <a:r>
              <a:rPr lang="en-US" dirty="0"/>
              <a:t>, 1 minute:
Close the presentation. Emphasise that the group demonstrated the full lifecycle: planning, implementation, security integration, risk/incident handling and verification. Thank the audience.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423BBB-91CE-7EC5-36F8-85F7A65B81F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Z"/>
          </a:p>
        </p:txBody>
      </p:sp>
      <p:sp>
        <p:nvSpPr>
          <p:cNvPr id="3" name="Subtitle 2">
            <a:extLst>
              <a:ext uri="{FF2B5EF4-FFF2-40B4-BE49-F238E27FC236}">
                <a16:creationId xmlns:a16="http://schemas.microsoft.com/office/drawing/2014/main" id="{00D4F754-78D6-F71A-88E6-DF9CA37A397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Z"/>
          </a:p>
        </p:txBody>
      </p:sp>
      <p:sp>
        <p:nvSpPr>
          <p:cNvPr id="4" name="Date Placeholder 3">
            <a:extLst>
              <a:ext uri="{FF2B5EF4-FFF2-40B4-BE49-F238E27FC236}">
                <a16:creationId xmlns:a16="http://schemas.microsoft.com/office/drawing/2014/main" id="{48C46C8E-1C2C-4978-8987-E38252DD61E7}"/>
              </a:ext>
            </a:extLst>
          </p:cNvPr>
          <p:cNvSpPr>
            <a:spLocks noGrp="1"/>
          </p:cNvSpPr>
          <p:nvPr>
            <p:ph type="dt" sz="half" idx="10"/>
          </p:nvPr>
        </p:nvSpPr>
        <p:spPr/>
        <p:txBody>
          <a:bodyPr/>
          <a:lstStyle/>
          <a:p>
            <a:fld id="{51953EAB-FBDB-4A88-A505-4F409FD4E448}" type="datetimeFigureOut">
              <a:rPr lang="en-NZ" smtClean="0"/>
              <a:t>2/07/2026</a:t>
            </a:fld>
            <a:endParaRPr lang="en-NZ"/>
          </a:p>
        </p:txBody>
      </p:sp>
      <p:sp>
        <p:nvSpPr>
          <p:cNvPr id="5" name="Footer Placeholder 4">
            <a:extLst>
              <a:ext uri="{FF2B5EF4-FFF2-40B4-BE49-F238E27FC236}">
                <a16:creationId xmlns:a16="http://schemas.microsoft.com/office/drawing/2014/main" id="{EC388B2F-A7FF-5DA7-A5EA-202C72BE03F7}"/>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EC99837B-875F-81C5-4E60-E18D503D1801}"/>
              </a:ext>
            </a:extLst>
          </p:cNvPr>
          <p:cNvSpPr>
            <a:spLocks noGrp="1"/>
          </p:cNvSpPr>
          <p:nvPr>
            <p:ph type="sldNum" sz="quarter" idx="12"/>
          </p:nvPr>
        </p:nvSpPr>
        <p:spPr/>
        <p:txBody>
          <a:bodyPr/>
          <a:lstStyle/>
          <a:p>
            <a:fld id="{C600ECD6-C83B-44CC-80E4-5014791120DA}" type="slidenum">
              <a:rPr lang="en-NZ" smtClean="0"/>
              <a:t>‹#›</a:t>
            </a:fld>
            <a:endParaRPr lang="en-NZ"/>
          </a:p>
        </p:txBody>
      </p:sp>
    </p:spTree>
    <p:extLst>
      <p:ext uri="{BB962C8B-B14F-4D97-AF65-F5344CB8AC3E}">
        <p14:creationId xmlns:p14="http://schemas.microsoft.com/office/powerpoint/2010/main" val="16929548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3526F-A0D8-885E-7C04-3B374E0FB8D2}"/>
              </a:ext>
            </a:extLst>
          </p:cNvPr>
          <p:cNvSpPr>
            <a:spLocks noGrp="1"/>
          </p:cNvSpPr>
          <p:nvPr>
            <p:ph type="title"/>
          </p:nvPr>
        </p:nvSpPr>
        <p:spPr/>
        <p:txBody>
          <a:bodyPr/>
          <a:lstStyle/>
          <a:p>
            <a:r>
              <a:rPr lang="en-US"/>
              <a:t>Click to edit Master title style</a:t>
            </a:r>
            <a:endParaRPr lang="en-NZ"/>
          </a:p>
        </p:txBody>
      </p:sp>
      <p:sp>
        <p:nvSpPr>
          <p:cNvPr id="3" name="Content Placeholder 2">
            <a:extLst>
              <a:ext uri="{FF2B5EF4-FFF2-40B4-BE49-F238E27FC236}">
                <a16:creationId xmlns:a16="http://schemas.microsoft.com/office/drawing/2014/main" id="{E3921E3D-1BC0-3464-4D41-B45DAE63819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B1406BD6-0211-0727-3BFA-807279D13503}"/>
              </a:ext>
            </a:extLst>
          </p:cNvPr>
          <p:cNvSpPr>
            <a:spLocks noGrp="1"/>
          </p:cNvSpPr>
          <p:nvPr>
            <p:ph type="dt" sz="half" idx="10"/>
          </p:nvPr>
        </p:nvSpPr>
        <p:spPr/>
        <p:txBody>
          <a:bodyPr/>
          <a:lstStyle/>
          <a:p>
            <a:fld id="{51953EAB-FBDB-4A88-A505-4F409FD4E448}" type="datetimeFigureOut">
              <a:rPr lang="en-NZ" smtClean="0"/>
              <a:t>2/07/2026</a:t>
            </a:fld>
            <a:endParaRPr lang="en-NZ"/>
          </a:p>
        </p:txBody>
      </p:sp>
      <p:sp>
        <p:nvSpPr>
          <p:cNvPr id="5" name="Footer Placeholder 4">
            <a:extLst>
              <a:ext uri="{FF2B5EF4-FFF2-40B4-BE49-F238E27FC236}">
                <a16:creationId xmlns:a16="http://schemas.microsoft.com/office/drawing/2014/main" id="{FDAE2630-010C-1F1B-B449-D7EDBF252237}"/>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43A3BD91-1E7D-F20E-1FDC-33FC2A82FB75}"/>
              </a:ext>
            </a:extLst>
          </p:cNvPr>
          <p:cNvSpPr>
            <a:spLocks noGrp="1"/>
          </p:cNvSpPr>
          <p:nvPr>
            <p:ph type="sldNum" sz="quarter" idx="12"/>
          </p:nvPr>
        </p:nvSpPr>
        <p:spPr/>
        <p:txBody>
          <a:bodyPr/>
          <a:lstStyle/>
          <a:p>
            <a:fld id="{C600ECD6-C83B-44CC-80E4-5014791120DA}" type="slidenum">
              <a:rPr lang="en-NZ" smtClean="0"/>
              <a:t>‹#›</a:t>
            </a:fld>
            <a:endParaRPr lang="en-NZ"/>
          </a:p>
        </p:txBody>
      </p:sp>
    </p:spTree>
    <p:extLst>
      <p:ext uri="{BB962C8B-B14F-4D97-AF65-F5344CB8AC3E}">
        <p14:creationId xmlns:p14="http://schemas.microsoft.com/office/powerpoint/2010/main" val="20989145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31F50-495D-7824-8D8B-5844197A899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Z"/>
          </a:p>
        </p:txBody>
      </p:sp>
      <p:sp>
        <p:nvSpPr>
          <p:cNvPr id="3" name="Text Placeholder 2">
            <a:extLst>
              <a:ext uri="{FF2B5EF4-FFF2-40B4-BE49-F238E27FC236}">
                <a16:creationId xmlns:a16="http://schemas.microsoft.com/office/drawing/2014/main" id="{72586867-ADFE-DC9A-4DD7-2B7607F69ED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D2DD8AE-DE0D-91BD-8935-60C96DE50165}"/>
              </a:ext>
            </a:extLst>
          </p:cNvPr>
          <p:cNvSpPr>
            <a:spLocks noGrp="1"/>
          </p:cNvSpPr>
          <p:nvPr>
            <p:ph type="dt" sz="half" idx="10"/>
          </p:nvPr>
        </p:nvSpPr>
        <p:spPr/>
        <p:txBody>
          <a:bodyPr/>
          <a:lstStyle/>
          <a:p>
            <a:fld id="{51953EAB-FBDB-4A88-A505-4F409FD4E448}" type="datetimeFigureOut">
              <a:rPr lang="en-NZ" smtClean="0"/>
              <a:t>2/07/2026</a:t>
            </a:fld>
            <a:endParaRPr lang="en-NZ"/>
          </a:p>
        </p:txBody>
      </p:sp>
      <p:sp>
        <p:nvSpPr>
          <p:cNvPr id="5" name="Footer Placeholder 4">
            <a:extLst>
              <a:ext uri="{FF2B5EF4-FFF2-40B4-BE49-F238E27FC236}">
                <a16:creationId xmlns:a16="http://schemas.microsoft.com/office/drawing/2014/main" id="{20A082C9-1EF7-E207-A760-91904894DFD4}"/>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AB96BD46-8A0B-0B1E-1AAB-CDAFA80180AA}"/>
              </a:ext>
            </a:extLst>
          </p:cNvPr>
          <p:cNvSpPr>
            <a:spLocks noGrp="1"/>
          </p:cNvSpPr>
          <p:nvPr>
            <p:ph type="sldNum" sz="quarter" idx="12"/>
          </p:nvPr>
        </p:nvSpPr>
        <p:spPr/>
        <p:txBody>
          <a:bodyPr/>
          <a:lstStyle/>
          <a:p>
            <a:fld id="{C600ECD6-C83B-44CC-80E4-5014791120DA}" type="slidenum">
              <a:rPr lang="en-NZ" smtClean="0"/>
              <a:t>‹#›</a:t>
            </a:fld>
            <a:endParaRPr lang="en-NZ"/>
          </a:p>
        </p:txBody>
      </p:sp>
    </p:spTree>
    <p:extLst>
      <p:ext uri="{BB962C8B-B14F-4D97-AF65-F5344CB8AC3E}">
        <p14:creationId xmlns:p14="http://schemas.microsoft.com/office/powerpoint/2010/main" val="16646810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E0658-9B06-5B7E-2368-DB58DE012DCA}"/>
              </a:ext>
            </a:extLst>
          </p:cNvPr>
          <p:cNvSpPr>
            <a:spLocks noGrp="1"/>
          </p:cNvSpPr>
          <p:nvPr>
            <p:ph type="title"/>
          </p:nvPr>
        </p:nvSpPr>
        <p:spPr/>
        <p:txBody>
          <a:bodyPr/>
          <a:lstStyle/>
          <a:p>
            <a:r>
              <a:rPr lang="en-US"/>
              <a:t>Click to edit Master title style</a:t>
            </a:r>
            <a:endParaRPr lang="en-NZ"/>
          </a:p>
        </p:txBody>
      </p:sp>
      <p:sp>
        <p:nvSpPr>
          <p:cNvPr id="3" name="Content Placeholder 2">
            <a:extLst>
              <a:ext uri="{FF2B5EF4-FFF2-40B4-BE49-F238E27FC236}">
                <a16:creationId xmlns:a16="http://schemas.microsoft.com/office/drawing/2014/main" id="{F1119B3F-3047-28F8-1492-319C750B97B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Content Placeholder 3">
            <a:extLst>
              <a:ext uri="{FF2B5EF4-FFF2-40B4-BE49-F238E27FC236}">
                <a16:creationId xmlns:a16="http://schemas.microsoft.com/office/drawing/2014/main" id="{787583A1-5DF1-E376-17C7-2D06B8E72CA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Date Placeholder 4">
            <a:extLst>
              <a:ext uri="{FF2B5EF4-FFF2-40B4-BE49-F238E27FC236}">
                <a16:creationId xmlns:a16="http://schemas.microsoft.com/office/drawing/2014/main" id="{3542E845-C0BD-CC5C-E31E-0791ADEB2271}"/>
              </a:ext>
            </a:extLst>
          </p:cNvPr>
          <p:cNvSpPr>
            <a:spLocks noGrp="1"/>
          </p:cNvSpPr>
          <p:nvPr>
            <p:ph type="dt" sz="half" idx="10"/>
          </p:nvPr>
        </p:nvSpPr>
        <p:spPr/>
        <p:txBody>
          <a:bodyPr/>
          <a:lstStyle/>
          <a:p>
            <a:fld id="{51953EAB-FBDB-4A88-A505-4F409FD4E448}" type="datetimeFigureOut">
              <a:rPr lang="en-NZ" smtClean="0"/>
              <a:t>2/07/2026</a:t>
            </a:fld>
            <a:endParaRPr lang="en-NZ"/>
          </a:p>
        </p:txBody>
      </p:sp>
      <p:sp>
        <p:nvSpPr>
          <p:cNvPr id="6" name="Footer Placeholder 5">
            <a:extLst>
              <a:ext uri="{FF2B5EF4-FFF2-40B4-BE49-F238E27FC236}">
                <a16:creationId xmlns:a16="http://schemas.microsoft.com/office/drawing/2014/main" id="{43BD5A0B-1237-4A85-5777-726275AB1C08}"/>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6E3278A4-D628-55F0-6161-0ABF88ABB12D}"/>
              </a:ext>
            </a:extLst>
          </p:cNvPr>
          <p:cNvSpPr>
            <a:spLocks noGrp="1"/>
          </p:cNvSpPr>
          <p:nvPr>
            <p:ph type="sldNum" sz="quarter" idx="12"/>
          </p:nvPr>
        </p:nvSpPr>
        <p:spPr/>
        <p:txBody>
          <a:bodyPr/>
          <a:lstStyle/>
          <a:p>
            <a:fld id="{C600ECD6-C83B-44CC-80E4-5014791120DA}" type="slidenum">
              <a:rPr lang="en-NZ" smtClean="0"/>
              <a:t>‹#›</a:t>
            </a:fld>
            <a:endParaRPr lang="en-NZ"/>
          </a:p>
        </p:txBody>
      </p:sp>
    </p:spTree>
    <p:extLst>
      <p:ext uri="{BB962C8B-B14F-4D97-AF65-F5344CB8AC3E}">
        <p14:creationId xmlns:p14="http://schemas.microsoft.com/office/powerpoint/2010/main" val="37347727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A6E936-76D4-2BF2-EF6F-CB291949363D}"/>
              </a:ext>
            </a:extLst>
          </p:cNvPr>
          <p:cNvSpPr>
            <a:spLocks noGrp="1"/>
          </p:cNvSpPr>
          <p:nvPr>
            <p:ph type="title"/>
          </p:nvPr>
        </p:nvSpPr>
        <p:spPr>
          <a:xfrm>
            <a:off x="839788" y="365125"/>
            <a:ext cx="10515600" cy="1325563"/>
          </a:xfrm>
        </p:spPr>
        <p:txBody>
          <a:bodyPr/>
          <a:lstStyle/>
          <a:p>
            <a:r>
              <a:rPr lang="en-US"/>
              <a:t>Click to edit Master title style</a:t>
            </a:r>
            <a:endParaRPr lang="en-NZ"/>
          </a:p>
        </p:txBody>
      </p:sp>
      <p:sp>
        <p:nvSpPr>
          <p:cNvPr id="3" name="Text Placeholder 2">
            <a:extLst>
              <a:ext uri="{FF2B5EF4-FFF2-40B4-BE49-F238E27FC236}">
                <a16:creationId xmlns:a16="http://schemas.microsoft.com/office/drawing/2014/main" id="{51D0EEBD-FE34-6D67-80A3-53CBFA3DA68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11AC86E-E409-DA2E-B579-8A04BD302D7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Text Placeholder 4">
            <a:extLst>
              <a:ext uri="{FF2B5EF4-FFF2-40B4-BE49-F238E27FC236}">
                <a16:creationId xmlns:a16="http://schemas.microsoft.com/office/drawing/2014/main" id="{2E9BD185-7803-83B0-719D-92CD04ABF43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706711F-E6D0-86F0-9310-5AA9DFC4C9C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7" name="Date Placeholder 6">
            <a:extLst>
              <a:ext uri="{FF2B5EF4-FFF2-40B4-BE49-F238E27FC236}">
                <a16:creationId xmlns:a16="http://schemas.microsoft.com/office/drawing/2014/main" id="{1B277382-21AB-C124-A55F-1758A2EDCCAA}"/>
              </a:ext>
            </a:extLst>
          </p:cNvPr>
          <p:cNvSpPr>
            <a:spLocks noGrp="1"/>
          </p:cNvSpPr>
          <p:nvPr>
            <p:ph type="dt" sz="half" idx="10"/>
          </p:nvPr>
        </p:nvSpPr>
        <p:spPr/>
        <p:txBody>
          <a:bodyPr/>
          <a:lstStyle/>
          <a:p>
            <a:fld id="{51953EAB-FBDB-4A88-A505-4F409FD4E448}" type="datetimeFigureOut">
              <a:rPr lang="en-NZ" smtClean="0"/>
              <a:t>2/07/2026</a:t>
            </a:fld>
            <a:endParaRPr lang="en-NZ"/>
          </a:p>
        </p:txBody>
      </p:sp>
      <p:sp>
        <p:nvSpPr>
          <p:cNvPr id="8" name="Footer Placeholder 7">
            <a:extLst>
              <a:ext uri="{FF2B5EF4-FFF2-40B4-BE49-F238E27FC236}">
                <a16:creationId xmlns:a16="http://schemas.microsoft.com/office/drawing/2014/main" id="{419678CC-5B0D-6181-5559-8E404F2E9FFA}"/>
              </a:ext>
            </a:extLst>
          </p:cNvPr>
          <p:cNvSpPr>
            <a:spLocks noGrp="1"/>
          </p:cNvSpPr>
          <p:nvPr>
            <p:ph type="ftr" sz="quarter" idx="11"/>
          </p:nvPr>
        </p:nvSpPr>
        <p:spPr/>
        <p:txBody>
          <a:bodyPr/>
          <a:lstStyle/>
          <a:p>
            <a:endParaRPr lang="en-NZ"/>
          </a:p>
        </p:txBody>
      </p:sp>
      <p:sp>
        <p:nvSpPr>
          <p:cNvPr id="9" name="Slide Number Placeholder 8">
            <a:extLst>
              <a:ext uri="{FF2B5EF4-FFF2-40B4-BE49-F238E27FC236}">
                <a16:creationId xmlns:a16="http://schemas.microsoft.com/office/drawing/2014/main" id="{A1054CA2-436F-6B37-A13F-A887C86B2E49}"/>
              </a:ext>
            </a:extLst>
          </p:cNvPr>
          <p:cNvSpPr>
            <a:spLocks noGrp="1"/>
          </p:cNvSpPr>
          <p:nvPr>
            <p:ph type="sldNum" sz="quarter" idx="12"/>
          </p:nvPr>
        </p:nvSpPr>
        <p:spPr/>
        <p:txBody>
          <a:bodyPr/>
          <a:lstStyle/>
          <a:p>
            <a:fld id="{C600ECD6-C83B-44CC-80E4-5014791120DA}" type="slidenum">
              <a:rPr lang="en-NZ" smtClean="0"/>
              <a:t>‹#›</a:t>
            </a:fld>
            <a:endParaRPr lang="en-NZ"/>
          </a:p>
        </p:txBody>
      </p:sp>
    </p:spTree>
    <p:extLst>
      <p:ext uri="{BB962C8B-B14F-4D97-AF65-F5344CB8AC3E}">
        <p14:creationId xmlns:p14="http://schemas.microsoft.com/office/powerpoint/2010/main" val="12994677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4B6AF-0929-CA99-DB20-0D20D8CEE918}"/>
              </a:ext>
            </a:extLst>
          </p:cNvPr>
          <p:cNvSpPr>
            <a:spLocks noGrp="1"/>
          </p:cNvSpPr>
          <p:nvPr>
            <p:ph type="title"/>
          </p:nvPr>
        </p:nvSpPr>
        <p:spPr/>
        <p:txBody>
          <a:bodyPr/>
          <a:lstStyle/>
          <a:p>
            <a:r>
              <a:rPr lang="en-US"/>
              <a:t>Click to edit Master title style</a:t>
            </a:r>
            <a:endParaRPr lang="en-NZ"/>
          </a:p>
        </p:txBody>
      </p:sp>
      <p:sp>
        <p:nvSpPr>
          <p:cNvPr id="3" name="Date Placeholder 2">
            <a:extLst>
              <a:ext uri="{FF2B5EF4-FFF2-40B4-BE49-F238E27FC236}">
                <a16:creationId xmlns:a16="http://schemas.microsoft.com/office/drawing/2014/main" id="{46D06BC9-8843-F8A5-C3EB-B4CECF89C6A7}"/>
              </a:ext>
            </a:extLst>
          </p:cNvPr>
          <p:cNvSpPr>
            <a:spLocks noGrp="1"/>
          </p:cNvSpPr>
          <p:nvPr>
            <p:ph type="dt" sz="half" idx="10"/>
          </p:nvPr>
        </p:nvSpPr>
        <p:spPr/>
        <p:txBody>
          <a:bodyPr/>
          <a:lstStyle/>
          <a:p>
            <a:fld id="{51953EAB-FBDB-4A88-A505-4F409FD4E448}" type="datetimeFigureOut">
              <a:rPr lang="en-NZ" smtClean="0"/>
              <a:t>2/07/2026</a:t>
            </a:fld>
            <a:endParaRPr lang="en-NZ"/>
          </a:p>
        </p:txBody>
      </p:sp>
      <p:sp>
        <p:nvSpPr>
          <p:cNvPr id="4" name="Footer Placeholder 3">
            <a:extLst>
              <a:ext uri="{FF2B5EF4-FFF2-40B4-BE49-F238E27FC236}">
                <a16:creationId xmlns:a16="http://schemas.microsoft.com/office/drawing/2014/main" id="{CE498297-57C1-F1F6-352F-5C608831E6BD}"/>
              </a:ext>
            </a:extLst>
          </p:cNvPr>
          <p:cNvSpPr>
            <a:spLocks noGrp="1"/>
          </p:cNvSpPr>
          <p:nvPr>
            <p:ph type="ftr" sz="quarter" idx="11"/>
          </p:nvPr>
        </p:nvSpPr>
        <p:spPr/>
        <p:txBody>
          <a:bodyPr/>
          <a:lstStyle/>
          <a:p>
            <a:endParaRPr lang="en-NZ"/>
          </a:p>
        </p:txBody>
      </p:sp>
      <p:sp>
        <p:nvSpPr>
          <p:cNvPr id="5" name="Slide Number Placeholder 4">
            <a:extLst>
              <a:ext uri="{FF2B5EF4-FFF2-40B4-BE49-F238E27FC236}">
                <a16:creationId xmlns:a16="http://schemas.microsoft.com/office/drawing/2014/main" id="{1F8E27D0-EEDE-A514-3612-68D84ABB600B}"/>
              </a:ext>
            </a:extLst>
          </p:cNvPr>
          <p:cNvSpPr>
            <a:spLocks noGrp="1"/>
          </p:cNvSpPr>
          <p:nvPr>
            <p:ph type="sldNum" sz="quarter" idx="12"/>
          </p:nvPr>
        </p:nvSpPr>
        <p:spPr/>
        <p:txBody>
          <a:bodyPr/>
          <a:lstStyle/>
          <a:p>
            <a:fld id="{C600ECD6-C83B-44CC-80E4-5014791120DA}" type="slidenum">
              <a:rPr lang="en-NZ" smtClean="0"/>
              <a:t>‹#›</a:t>
            </a:fld>
            <a:endParaRPr lang="en-NZ"/>
          </a:p>
        </p:txBody>
      </p:sp>
    </p:spTree>
    <p:extLst>
      <p:ext uri="{BB962C8B-B14F-4D97-AF65-F5344CB8AC3E}">
        <p14:creationId xmlns:p14="http://schemas.microsoft.com/office/powerpoint/2010/main" val="4504657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A4562AF-458E-E1C9-2799-AAB4A97F1F18}"/>
              </a:ext>
            </a:extLst>
          </p:cNvPr>
          <p:cNvSpPr>
            <a:spLocks noGrp="1"/>
          </p:cNvSpPr>
          <p:nvPr>
            <p:ph type="dt" sz="half" idx="10"/>
          </p:nvPr>
        </p:nvSpPr>
        <p:spPr/>
        <p:txBody>
          <a:bodyPr/>
          <a:lstStyle/>
          <a:p>
            <a:fld id="{51953EAB-FBDB-4A88-A505-4F409FD4E448}" type="datetimeFigureOut">
              <a:rPr lang="en-NZ" smtClean="0"/>
              <a:t>2/07/2026</a:t>
            </a:fld>
            <a:endParaRPr lang="en-NZ"/>
          </a:p>
        </p:txBody>
      </p:sp>
      <p:sp>
        <p:nvSpPr>
          <p:cNvPr id="3" name="Footer Placeholder 2">
            <a:extLst>
              <a:ext uri="{FF2B5EF4-FFF2-40B4-BE49-F238E27FC236}">
                <a16:creationId xmlns:a16="http://schemas.microsoft.com/office/drawing/2014/main" id="{D4182EBE-408F-835E-FD23-6756B0FCA471}"/>
              </a:ext>
            </a:extLst>
          </p:cNvPr>
          <p:cNvSpPr>
            <a:spLocks noGrp="1"/>
          </p:cNvSpPr>
          <p:nvPr>
            <p:ph type="ftr" sz="quarter" idx="11"/>
          </p:nvPr>
        </p:nvSpPr>
        <p:spPr/>
        <p:txBody>
          <a:bodyPr/>
          <a:lstStyle/>
          <a:p>
            <a:endParaRPr lang="en-NZ"/>
          </a:p>
        </p:txBody>
      </p:sp>
      <p:sp>
        <p:nvSpPr>
          <p:cNvPr id="4" name="Slide Number Placeholder 3">
            <a:extLst>
              <a:ext uri="{FF2B5EF4-FFF2-40B4-BE49-F238E27FC236}">
                <a16:creationId xmlns:a16="http://schemas.microsoft.com/office/drawing/2014/main" id="{046F1831-FD58-916C-E93F-666A79529651}"/>
              </a:ext>
            </a:extLst>
          </p:cNvPr>
          <p:cNvSpPr>
            <a:spLocks noGrp="1"/>
          </p:cNvSpPr>
          <p:nvPr>
            <p:ph type="sldNum" sz="quarter" idx="12"/>
          </p:nvPr>
        </p:nvSpPr>
        <p:spPr/>
        <p:txBody>
          <a:bodyPr/>
          <a:lstStyle/>
          <a:p>
            <a:fld id="{C600ECD6-C83B-44CC-80E4-5014791120DA}" type="slidenum">
              <a:rPr lang="en-NZ" smtClean="0"/>
              <a:t>‹#›</a:t>
            </a:fld>
            <a:endParaRPr lang="en-NZ"/>
          </a:p>
        </p:txBody>
      </p:sp>
    </p:spTree>
    <p:extLst>
      <p:ext uri="{BB962C8B-B14F-4D97-AF65-F5344CB8AC3E}">
        <p14:creationId xmlns:p14="http://schemas.microsoft.com/office/powerpoint/2010/main" val="5412546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CAA6E-FEBB-6A57-33AC-DE935123F31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Z"/>
          </a:p>
        </p:txBody>
      </p:sp>
      <p:sp>
        <p:nvSpPr>
          <p:cNvPr id="3" name="Content Placeholder 2">
            <a:extLst>
              <a:ext uri="{FF2B5EF4-FFF2-40B4-BE49-F238E27FC236}">
                <a16:creationId xmlns:a16="http://schemas.microsoft.com/office/drawing/2014/main" id="{A0D17F07-0E58-64FC-A6BF-BAD839EC98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Text Placeholder 3">
            <a:extLst>
              <a:ext uri="{FF2B5EF4-FFF2-40B4-BE49-F238E27FC236}">
                <a16:creationId xmlns:a16="http://schemas.microsoft.com/office/drawing/2014/main" id="{84F0AB02-2692-CEB7-61A3-58EA1132FD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917327-DA2E-798A-E2C1-FE482FC64690}"/>
              </a:ext>
            </a:extLst>
          </p:cNvPr>
          <p:cNvSpPr>
            <a:spLocks noGrp="1"/>
          </p:cNvSpPr>
          <p:nvPr>
            <p:ph type="dt" sz="half" idx="10"/>
          </p:nvPr>
        </p:nvSpPr>
        <p:spPr/>
        <p:txBody>
          <a:bodyPr/>
          <a:lstStyle/>
          <a:p>
            <a:fld id="{51953EAB-FBDB-4A88-A505-4F409FD4E448}" type="datetimeFigureOut">
              <a:rPr lang="en-NZ" smtClean="0"/>
              <a:t>2/07/2026</a:t>
            </a:fld>
            <a:endParaRPr lang="en-NZ"/>
          </a:p>
        </p:txBody>
      </p:sp>
      <p:sp>
        <p:nvSpPr>
          <p:cNvPr id="6" name="Footer Placeholder 5">
            <a:extLst>
              <a:ext uri="{FF2B5EF4-FFF2-40B4-BE49-F238E27FC236}">
                <a16:creationId xmlns:a16="http://schemas.microsoft.com/office/drawing/2014/main" id="{8EA343F9-D1CA-FA70-F798-0758C814CD0C}"/>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58E1BCDF-3B94-EDB5-EFCF-3D090BD41372}"/>
              </a:ext>
            </a:extLst>
          </p:cNvPr>
          <p:cNvSpPr>
            <a:spLocks noGrp="1"/>
          </p:cNvSpPr>
          <p:nvPr>
            <p:ph type="sldNum" sz="quarter" idx="12"/>
          </p:nvPr>
        </p:nvSpPr>
        <p:spPr/>
        <p:txBody>
          <a:bodyPr/>
          <a:lstStyle/>
          <a:p>
            <a:fld id="{C600ECD6-C83B-44CC-80E4-5014791120DA}" type="slidenum">
              <a:rPr lang="en-NZ" smtClean="0"/>
              <a:t>‹#›</a:t>
            </a:fld>
            <a:endParaRPr lang="en-NZ"/>
          </a:p>
        </p:txBody>
      </p:sp>
    </p:spTree>
    <p:extLst>
      <p:ext uri="{BB962C8B-B14F-4D97-AF65-F5344CB8AC3E}">
        <p14:creationId xmlns:p14="http://schemas.microsoft.com/office/powerpoint/2010/main" val="2197568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09953-F05A-B4E9-AA0E-EEB067BE827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Z"/>
          </a:p>
        </p:txBody>
      </p:sp>
      <p:sp>
        <p:nvSpPr>
          <p:cNvPr id="3" name="Picture Placeholder 2">
            <a:extLst>
              <a:ext uri="{FF2B5EF4-FFF2-40B4-BE49-F238E27FC236}">
                <a16:creationId xmlns:a16="http://schemas.microsoft.com/office/drawing/2014/main" id="{6D2C6237-B344-52D7-445B-3D1C0F202A0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Z"/>
          </a:p>
        </p:txBody>
      </p:sp>
      <p:sp>
        <p:nvSpPr>
          <p:cNvPr id="4" name="Text Placeholder 3">
            <a:extLst>
              <a:ext uri="{FF2B5EF4-FFF2-40B4-BE49-F238E27FC236}">
                <a16:creationId xmlns:a16="http://schemas.microsoft.com/office/drawing/2014/main" id="{F870695B-A079-2502-B85E-B442BDDC60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9435554-0D65-FE15-275A-AD2C2900EB1D}"/>
              </a:ext>
            </a:extLst>
          </p:cNvPr>
          <p:cNvSpPr>
            <a:spLocks noGrp="1"/>
          </p:cNvSpPr>
          <p:nvPr>
            <p:ph type="dt" sz="half" idx="10"/>
          </p:nvPr>
        </p:nvSpPr>
        <p:spPr/>
        <p:txBody>
          <a:bodyPr/>
          <a:lstStyle/>
          <a:p>
            <a:fld id="{51953EAB-FBDB-4A88-A505-4F409FD4E448}" type="datetimeFigureOut">
              <a:rPr lang="en-NZ" smtClean="0"/>
              <a:t>2/07/2026</a:t>
            </a:fld>
            <a:endParaRPr lang="en-NZ"/>
          </a:p>
        </p:txBody>
      </p:sp>
      <p:sp>
        <p:nvSpPr>
          <p:cNvPr id="6" name="Footer Placeholder 5">
            <a:extLst>
              <a:ext uri="{FF2B5EF4-FFF2-40B4-BE49-F238E27FC236}">
                <a16:creationId xmlns:a16="http://schemas.microsoft.com/office/drawing/2014/main" id="{0409BF3C-1215-602D-90A9-60414F96DA62}"/>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F0A9565D-B165-8EB9-33E8-CA7AAE378EA1}"/>
              </a:ext>
            </a:extLst>
          </p:cNvPr>
          <p:cNvSpPr>
            <a:spLocks noGrp="1"/>
          </p:cNvSpPr>
          <p:nvPr>
            <p:ph type="sldNum" sz="quarter" idx="12"/>
          </p:nvPr>
        </p:nvSpPr>
        <p:spPr/>
        <p:txBody>
          <a:bodyPr/>
          <a:lstStyle/>
          <a:p>
            <a:fld id="{C600ECD6-C83B-44CC-80E4-5014791120DA}" type="slidenum">
              <a:rPr lang="en-NZ" smtClean="0"/>
              <a:t>‹#›</a:t>
            </a:fld>
            <a:endParaRPr lang="en-NZ"/>
          </a:p>
        </p:txBody>
      </p:sp>
    </p:spTree>
    <p:extLst>
      <p:ext uri="{BB962C8B-B14F-4D97-AF65-F5344CB8AC3E}">
        <p14:creationId xmlns:p14="http://schemas.microsoft.com/office/powerpoint/2010/main" val="10633673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1994C-070E-9CEC-79DB-0837A858795D}"/>
              </a:ext>
            </a:extLst>
          </p:cNvPr>
          <p:cNvSpPr>
            <a:spLocks noGrp="1"/>
          </p:cNvSpPr>
          <p:nvPr>
            <p:ph type="title"/>
          </p:nvPr>
        </p:nvSpPr>
        <p:spPr/>
        <p:txBody>
          <a:bodyPr/>
          <a:lstStyle/>
          <a:p>
            <a:r>
              <a:rPr lang="en-US"/>
              <a:t>Click to edit Master title style</a:t>
            </a:r>
            <a:endParaRPr lang="en-NZ"/>
          </a:p>
        </p:txBody>
      </p:sp>
      <p:sp>
        <p:nvSpPr>
          <p:cNvPr id="3" name="Vertical Text Placeholder 2">
            <a:extLst>
              <a:ext uri="{FF2B5EF4-FFF2-40B4-BE49-F238E27FC236}">
                <a16:creationId xmlns:a16="http://schemas.microsoft.com/office/drawing/2014/main" id="{16E6F455-5CA9-7FC2-E23E-909837D5A43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A3C66973-AFE0-1418-C4CA-979BA0E29900}"/>
              </a:ext>
            </a:extLst>
          </p:cNvPr>
          <p:cNvSpPr>
            <a:spLocks noGrp="1"/>
          </p:cNvSpPr>
          <p:nvPr>
            <p:ph type="dt" sz="half" idx="10"/>
          </p:nvPr>
        </p:nvSpPr>
        <p:spPr/>
        <p:txBody>
          <a:bodyPr/>
          <a:lstStyle/>
          <a:p>
            <a:fld id="{51953EAB-FBDB-4A88-A505-4F409FD4E448}" type="datetimeFigureOut">
              <a:rPr lang="en-NZ" smtClean="0"/>
              <a:t>2/07/2026</a:t>
            </a:fld>
            <a:endParaRPr lang="en-NZ"/>
          </a:p>
        </p:txBody>
      </p:sp>
      <p:sp>
        <p:nvSpPr>
          <p:cNvPr id="5" name="Footer Placeholder 4">
            <a:extLst>
              <a:ext uri="{FF2B5EF4-FFF2-40B4-BE49-F238E27FC236}">
                <a16:creationId xmlns:a16="http://schemas.microsoft.com/office/drawing/2014/main" id="{BD343063-ED7F-367F-EC0D-6CED1197A9DF}"/>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C5417534-6DEB-A576-A35B-AD8552141FB7}"/>
              </a:ext>
            </a:extLst>
          </p:cNvPr>
          <p:cNvSpPr>
            <a:spLocks noGrp="1"/>
          </p:cNvSpPr>
          <p:nvPr>
            <p:ph type="sldNum" sz="quarter" idx="12"/>
          </p:nvPr>
        </p:nvSpPr>
        <p:spPr/>
        <p:txBody>
          <a:bodyPr/>
          <a:lstStyle/>
          <a:p>
            <a:fld id="{C600ECD6-C83B-44CC-80E4-5014791120DA}" type="slidenum">
              <a:rPr lang="en-NZ" smtClean="0"/>
              <a:t>‹#›</a:t>
            </a:fld>
            <a:endParaRPr lang="en-NZ"/>
          </a:p>
        </p:txBody>
      </p:sp>
    </p:spTree>
    <p:extLst>
      <p:ext uri="{BB962C8B-B14F-4D97-AF65-F5344CB8AC3E}">
        <p14:creationId xmlns:p14="http://schemas.microsoft.com/office/powerpoint/2010/main" val="29175259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328E0DD-56D0-C5DC-34F9-7DB0A9497F5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Z"/>
          </a:p>
        </p:txBody>
      </p:sp>
      <p:sp>
        <p:nvSpPr>
          <p:cNvPr id="3" name="Vertical Text Placeholder 2">
            <a:extLst>
              <a:ext uri="{FF2B5EF4-FFF2-40B4-BE49-F238E27FC236}">
                <a16:creationId xmlns:a16="http://schemas.microsoft.com/office/drawing/2014/main" id="{E43366BF-729F-4B66-4AF7-DDE1A1BFCF6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0140AC9F-CDA7-5984-E0A1-4799D70AA35C}"/>
              </a:ext>
            </a:extLst>
          </p:cNvPr>
          <p:cNvSpPr>
            <a:spLocks noGrp="1"/>
          </p:cNvSpPr>
          <p:nvPr>
            <p:ph type="dt" sz="half" idx="10"/>
          </p:nvPr>
        </p:nvSpPr>
        <p:spPr/>
        <p:txBody>
          <a:bodyPr/>
          <a:lstStyle/>
          <a:p>
            <a:fld id="{51953EAB-FBDB-4A88-A505-4F409FD4E448}" type="datetimeFigureOut">
              <a:rPr lang="en-NZ" smtClean="0"/>
              <a:t>2/07/2026</a:t>
            </a:fld>
            <a:endParaRPr lang="en-NZ"/>
          </a:p>
        </p:txBody>
      </p:sp>
      <p:sp>
        <p:nvSpPr>
          <p:cNvPr id="5" name="Footer Placeholder 4">
            <a:extLst>
              <a:ext uri="{FF2B5EF4-FFF2-40B4-BE49-F238E27FC236}">
                <a16:creationId xmlns:a16="http://schemas.microsoft.com/office/drawing/2014/main" id="{47C657A7-C22E-88E6-644B-F5FC16916FAA}"/>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7E2B9038-A656-7F6D-D8A9-906E155FCE3A}"/>
              </a:ext>
            </a:extLst>
          </p:cNvPr>
          <p:cNvSpPr>
            <a:spLocks noGrp="1"/>
          </p:cNvSpPr>
          <p:nvPr>
            <p:ph type="sldNum" sz="quarter" idx="12"/>
          </p:nvPr>
        </p:nvSpPr>
        <p:spPr/>
        <p:txBody>
          <a:bodyPr/>
          <a:lstStyle/>
          <a:p>
            <a:fld id="{C600ECD6-C83B-44CC-80E4-5014791120DA}" type="slidenum">
              <a:rPr lang="en-NZ" smtClean="0"/>
              <a:t>‹#›</a:t>
            </a:fld>
            <a:endParaRPr lang="en-NZ"/>
          </a:p>
        </p:txBody>
      </p:sp>
    </p:spTree>
    <p:extLst>
      <p:ext uri="{BB962C8B-B14F-4D97-AF65-F5344CB8AC3E}">
        <p14:creationId xmlns:p14="http://schemas.microsoft.com/office/powerpoint/2010/main" val="5938041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0745620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C4A1670-3057-C910-0D96-AFF4DAA5D46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Z"/>
          </a:p>
        </p:txBody>
      </p:sp>
      <p:sp>
        <p:nvSpPr>
          <p:cNvPr id="3" name="Text Placeholder 2">
            <a:extLst>
              <a:ext uri="{FF2B5EF4-FFF2-40B4-BE49-F238E27FC236}">
                <a16:creationId xmlns:a16="http://schemas.microsoft.com/office/drawing/2014/main" id="{F44B6911-EACE-6442-DDEE-EFEE615215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D6A7A3BE-9A94-DA92-E360-180DEBDDF32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1953EAB-FBDB-4A88-A505-4F409FD4E448}" type="datetimeFigureOut">
              <a:rPr lang="en-NZ" smtClean="0"/>
              <a:t>2/07/2026</a:t>
            </a:fld>
            <a:endParaRPr lang="en-NZ"/>
          </a:p>
        </p:txBody>
      </p:sp>
      <p:sp>
        <p:nvSpPr>
          <p:cNvPr id="5" name="Footer Placeholder 4">
            <a:extLst>
              <a:ext uri="{FF2B5EF4-FFF2-40B4-BE49-F238E27FC236}">
                <a16:creationId xmlns:a16="http://schemas.microsoft.com/office/drawing/2014/main" id="{35A9CA62-E138-E893-14A3-2EE653C8FD3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NZ"/>
          </a:p>
        </p:txBody>
      </p:sp>
      <p:sp>
        <p:nvSpPr>
          <p:cNvPr id="6" name="Slide Number Placeholder 5">
            <a:extLst>
              <a:ext uri="{FF2B5EF4-FFF2-40B4-BE49-F238E27FC236}">
                <a16:creationId xmlns:a16="http://schemas.microsoft.com/office/drawing/2014/main" id="{733BA544-8BE3-E324-FC98-51A3820D09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600ECD6-C83B-44CC-80E4-5014791120DA}" type="slidenum">
              <a:rPr lang="en-NZ" smtClean="0"/>
              <a:t>‹#›</a:t>
            </a:fld>
            <a:endParaRPr lang="en-NZ"/>
          </a:p>
        </p:txBody>
      </p:sp>
    </p:spTree>
    <p:extLst>
      <p:ext uri="{BB962C8B-B14F-4D97-AF65-F5344CB8AC3E}">
        <p14:creationId xmlns:p14="http://schemas.microsoft.com/office/powerpoint/2010/main" val="13942854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image1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image" Target="../media/image1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 Id="rId3"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0" y="6355080"/>
            <a:ext cx="12191695" cy="502920"/>
          </a:xfrm>
          <a:prstGeom prst="rect">
            <a:avLst/>
          </a:prstGeom>
          <a:solidFill>
            <a:srgbClr val="0513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0"/>
            <a:ext cx="201168" cy="6858000"/>
          </a:xfrm>
          <a:prstGeom prst="rect">
            <a:avLst/>
          </a:prstGeom>
          <a:solidFill>
            <a:srgbClr val="00B2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0"/>
            <a:ext cx="12191695" cy="685800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0"/>
            <a:ext cx="12192000" cy="685800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 0"/>
          <p:cNvSpPr/>
          <p:nvPr/>
        </p:nvSpPr>
        <p:spPr>
          <a:xfrm>
            <a:off x="685800" y="822960"/>
            <a:ext cx="7498079" cy="1188720"/>
          </a:xfrm>
          <a:prstGeom prst="rect">
            <a:avLst/>
          </a:prstGeom>
          <a:noFill/>
          <a:ln/>
        </p:spPr>
        <p:txBody>
          <a:bodyPr wrap="square" lIns="18288" tIns="9144" rIns="18288" bIns="9144" rtlCol="0" anchor="ctr">
            <a:normAutofit/>
          </a:bodyPr>
          <a:lstStyle/>
          <a:p>
            <a:pPr marL="0" indent="0">
              <a:buNone/>
            </a:pPr>
            <a:r>
              <a:rPr lang="en-US" sz="3900" b="1" dirty="0">
                <a:solidFill>
                  <a:srgbClr val="FFFFFF"/>
                </a:solidFill>
                <a:latin typeface="Aptos"/>
              </a:rPr>
              <a:t>Multi-Cloud Security Integration</a:t>
            </a:r>
            <a:endParaRPr lang="en-US" sz="3500" dirty="0"/>
          </a:p>
          <a:p>
            <a:pPr marL="0" indent="0">
              <a:buNone/>
            </a:pPr>
            <a:r>
              <a:rPr lang="en-US" sz="3900" b="1" dirty="0">
                <a:solidFill>
                  <a:srgbClr val="FFFFFF"/>
                </a:solidFill>
                <a:latin typeface="Aptos"/>
              </a:rPr>
              <a:t>and Project Management</a:t>
            </a:r>
            <a:endParaRPr lang="en-US" sz="3500" dirty="0"/>
          </a:p>
        </p:txBody>
      </p:sp>
      <p:sp>
        <p:nvSpPr>
          <p:cNvPr id="4" name="Text 2"/>
          <p:cNvSpPr/>
          <p:nvPr/>
        </p:nvSpPr>
        <p:spPr>
          <a:xfrm>
            <a:off x="713232" y="2606040"/>
            <a:ext cx="7498079" cy="502920"/>
          </a:xfrm>
          <a:prstGeom prst="rect">
            <a:avLst/>
          </a:prstGeom>
          <a:noFill/>
          <a:ln/>
        </p:spPr>
        <p:txBody>
          <a:bodyPr wrap="square" lIns="18288" tIns="9144" rIns="18288" bIns="9144" rtlCol="0" anchor="ctr"/>
          <a:lstStyle/>
          <a:p>
            <a:pPr marL="0" indent="0">
              <a:buNone/>
            </a:pPr>
            <a:r>
              <a:rPr lang="en-US" sz="1500" dirty="0" b="0">
                <a:solidFill>
                  <a:srgbClr val="E1E9F2"/>
                </a:solidFill>
                <a:latin typeface="Aptos"/>
              </a:rPr>
              <a:t>Geni Bahar • Yusof Sharifzai • Hari Tamang</a:t>
            </a:r>
            <a:endParaRPr lang="en-US" sz="1400" dirty="0"/>
          </a:p>
          <a:p>
            <a:pPr marL="0" indent="0">
              <a:buNone/>
            </a:pPr>
            <a:r>
              <a:rPr lang="en-US" sz="1500" dirty="0" b="0">
                <a:solidFill>
                  <a:srgbClr val="E1E9F2"/>
                </a:solidFill>
                <a:latin typeface="Aptos"/>
              </a:rPr>
              <a:t>Student_Group_01-FT</a:t>
            </a:r>
            <a:endParaRPr lang="en-US" sz="1400" dirty="0"/>
          </a:p>
        </p:txBody>
      </p:sp>
      <p:pic>
        <p:nvPicPr>
          <p:cNvPr id="5" name="Image 0" descr="/mnt/data/ppt_assets/arch.png"/>
          <p:cNvPicPr>
            <a:picLocks noChangeAspect="1"/>
          </p:cNvPicPr>
          <p:nvPr/>
        </p:nvPicPr>
        <p:blipFill>
          <a:blip r:embed="rId3"/>
          <a:stretch>
            <a:fillRect/>
          </a:stretch>
        </p:blipFill>
        <p:spPr>
          <a:xfrm>
            <a:off x="8229600" y="1325880"/>
            <a:ext cx="3474720" cy="3474720"/>
          </a:xfrm>
          <a:prstGeom prst="rect">
            <a:avLst/>
          </a:prstGeom>
          <a:ln w="19050">
            <a:solidFill>
              <a:srgbClr val="00B2D6"/>
            </a:solidFill>
          </a:ln>
        </p:spPr>
      </p:pic>
      <p:sp>
        <p:nvSpPr>
          <p:cNvPr id="10" name="TextBox 9"/>
          <p:cNvSpPr txBox="1"/>
          <p:nvPr/>
        </p:nvSpPr>
        <p:spPr>
          <a:xfrm>
            <a:off x="502920" y="6565392"/>
            <a:ext cx="10972800" cy="164592"/>
          </a:xfrm>
          <a:prstGeom prst="rect">
            <a:avLst/>
          </a:prstGeom>
          <a:noFill/>
        </p:spPr>
        <p:txBody>
          <a:bodyPr wrap="none">
            <a:spAutoFit/>
          </a:bodyPr>
          <a:lstStyle/>
          <a:p>
            <a:pPr algn="l"/>
            <a:r>
              <a:rPr sz="750">
                <a:solidFill>
                  <a:srgbClr val="607082"/>
                </a:solidFill>
                <a:latin typeface="Aptos"/>
              </a:rPr>
              <a:t>CCC604 Assessment 8  |  Multi-Cloud Security Integration  |  1</a:t>
            </a:r>
          </a:p>
        </p:txBody>
      </p:sp>
      <p:sp>
        <p:nvSpPr>
          <p:cNvPr id="11" name="Oval 10"/>
          <p:cNvSpPr/>
          <p:nvPr/>
        </p:nvSpPr>
        <p:spPr>
          <a:xfrm>
            <a:off x="11292840" y="6537960"/>
            <a:ext cx="128016" cy="128016"/>
          </a:xfrm>
          <a:prstGeom prst="ellipse">
            <a:avLst/>
          </a:prstGeom>
          <a:solidFill>
            <a:srgbClr val="00B2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0" y="0"/>
            <a:ext cx="146304" cy="6858000"/>
          </a:xfrm>
          <a:prstGeom prst="rect">
            <a:avLst/>
          </a:prstGeom>
          <a:solidFill>
            <a:srgbClr val="008B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0"/>
            <a:ext cx="12192000"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 0"/>
          <p:cNvSpPr/>
          <p:nvPr/>
        </p:nvSpPr>
        <p:spPr>
          <a:xfrm>
            <a:off x="502920" y="201168"/>
            <a:ext cx="7680960" cy="411480"/>
          </a:xfrm>
          <a:prstGeom prst="rect">
            <a:avLst/>
          </a:prstGeom>
          <a:noFill/>
          <a:ln/>
        </p:spPr>
        <p:txBody>
          <a:bodyPr wrap="square" lIns="18288" tIns="9144" rIns="18288" bIns="9144" rtlCol="0" anchor="ctr"/>
          <a:lstStyle/>
          <a:p>
            <a:pPr marL="0" indent="0">
              <a:buNone/>
            </a:pPr>
            <a:r>
              <a:rPr lang="en-US" sz="2700" b="1" dirty="0">
                <a:solidFill>
                  <a:srgbClr val="0B1F33"/>
                </a:solidFill>
                <a:latin typeface="Aptos"/>
              </a:rPr>
              <a:t>Presentation roadmap</a:t>
            </a:r>
            <a:endParaRPr lang="en-US" sz="2400" dirty="0"/>
          </a:p>
        </p:txBody>
      </p:sp>
      <p:sp>
        <p:nvSpPr>
          <p:cNvPr id="3" name="Text 1"/>
          <p:cNvSpPr/>
          <p:nvPr/>
        </p:nvSpPr>
        <p:spPr>
          <a:xfrm>
            <a:off x="530352" y="667512"/>
            <a:ext cx="7772400" cy="228600"/>
          </a:xfrm>
          <a:prstGeom prst="rect">
            <a:avLst/>
          </a:prstGeom>
          <a:noFill/>
          <a:ln/>
        </p:spPr>
        <p:txBody>
          <a:bodyPr wrap="square" lIns="18288" tIns="9144" rIns="18288" bIns="9144" rtlCol="0" anchor="ctr"/>
          <a:lstStyle/>
          <a:p>
            <a:pPr marL="0" indent="0">
              <a:buNone/>
            </a:pPr>
            <a:r>
              <a:rPr lang="en-US" sz="1350" dirty="0" b="0">
                <a:solidFill>
                  <a:srgbClr val="607082"/>
                </a:solidFill>
                <a:latin typeface="Aptos"/>
              </a:rPr>
              <a:t>Designed for a 30-minute recorded team presentation</a:t>
            </a:r>
            <a:endParaRPr lang="en-US" sz="1050" dirty="0"/>
          </a:p>
        </p:txBody>
      </p:sp>
      <p:sp>
        <p:nvSpPr>
          <p:cNvPr id="4" name="Text 2"/>
          <p:cNvSpPr/>
          <p:nvPr/>
        </p:nvSpPr>
        <p:spPr>
          <a:xfrm>
            <a:off x="9372600" y="310896"/>
            <a:ext cx="2057400" cy="256032"/>
          </a:xfrm>
          <a:prstGeom prst="rect">
            <a:avLst/>
          </a:prstGeom>
          <a:solidFill>
            <a:srgbClr val="008B9F"/>
          </a:solidFill>
          <a:ln>
            <a:noFill/>
          </a:ln>
        </p:spPr>
        <p:txBody>
          <a:bodyPr wrap="square" lIns="18288" tIns="9144" rIns="18288" bIns="9144" rtlCol="0" anchor="ctr"/>
          <a:lstStyle/>
          <a:p>
            <a:pPr marL="0" indent="0" algn="ctr">
              <a:buNone/>
            </a:pPr>
            <a:r>
              <a:rPr lang="en-US" sz="950" b="1" dirty="0">
                <a:solidFill>
                  <a:srgbClr val="FFFFFF"/>
                </a:solidFill>
                <a:latin typeface="Aptos"/>
              </a:rPr>
              <a:t>Agenda</a:t>
            </a:r>
            <a:endParaRPr lang="en-US" sz="850" dirty="0"/>
          </a:p>
        </p:txBody>
      </p:sp>
      <p:sp>
        <p:nvSpPr>
          <p:cNvPr id="5" name="Text 3"/>
          <p:cNvSpPr/>
          <p:nvPr/>
        </p:nvSpPr>
        <p:spPr>
          <a:xfrm>
            <a:off x="594360" y="1207008"/>
            <a:ext cx="5120640" cy="201168"/>
          </a:xfrm>
          <a:prstGeom prst="rect">
            <a:avLst/>
          </a:prstGeom>
          <a:noFill/>
          <a:ln/>
        </p:spPr>
        <p:txBody>
          <a:bodyPr wrap="square" lIns="18288" tIns="9144" rIns="18288" bIns="9144" rtlCol="0" anchor="ctr">
            <a:normAutofit/>
          </a:bodyPr>
          <a:lstStyle/>
          <a:p>
            <a:pPr marL="0" indent="0">
              <a:buNone/>
            </a:pPr>
            <a:r>
              <a:rPr lang="en-US" sz="1200" b="1" dirty="0">
                <a:solidFill>
                  <a:srgbClr val="008B9F"/>
                </a:solidFill>
                <a:latin typeface="Aptos"/>
              </a:rPr>
              <a:t>PART 1: PROJECT AND TEAM</a:t>
            </a:r>
            <a:endParaRPr lang="en-US" sz="850" dirty="0"/>
          </a:p>
        </p:txBody>
      </p:sp>
      <p:sp>
        <p:nvSpPr>
          <p:cNvPr id="6" name="Text 4"/>
          <p:cNvSpPr/>
          <p:nvPr/>
        </p:nvSpPr>
        <p:spPr>
          <a:xfrm>
            <a:off x="594360" y="1536192"/>
            <a:ext cx="5120640" cy="4206240"/>
          </a:xfrm>
          <a:prstGeom prst="rect">
            <a:avLst/>
          </a:prstGeom>
          <a:noFill/>
          <a:ln/>
        </p:spPr>
        <p:txBody>
          <a:bodyPr wrap="square" lIns="18288" tIns="9144" rIns="18288" bIns="9144" rtlCol="0" anchor="ctr">
            <a:normAutofit/>
          </a:bodyPr>
          <a:lstStyle/>
          <a:p>
            <a:r>
              <a:rPr lang="en-US" sz="1800" dirty="0" b="0">
                <a:solidFill>
                  <a:srgbClr val="233040"/>
                </a:solidFill>
                <a:latin typeface="Aptos"/>
              </a:rPr>
              <a:t>Project scenario and goals</a:t>
            </a:r>
            <a:endParaRPr lang="en-US" sz="1450" dirty="0"/>
          </a:p>
          <a:p>
            <a:r>
              <a:rPr lang="en-US" sz="1800" dirty="0" b="0">
                <a:solidFill>
                  <a:srgbClr val="233040"/>
                </a:solidFill>
                <a:latin typeface="Aptos"/>
              </a:rPr>
              <a:t>Team roles and communication plan</a:t>
            </a:r>
            <a:endParaRPr lang="en-US" sz="1450" dirty="0"/>
          </a:p>
          <a:p>
            <a:r>
              <a:rPr lang="en-US" sz="1800" dirty="0" b="0">
                <a:solidFill>
                  <a:srgbClr val="233040"/>
                </a:solidFill>
                <a:latin typeface="Aptos"/>
              </a:rPr>
              <a:t>High-level multi-cloud architecture</a:t>
            </a:r>
            <a:endParaRPr lang="en-US" sz="1450" dirty="0"/>
          </a:p>
        </p:txBody>
      </p:sp>
      <p:sp>
        <p:nvSpPr>
          <p:cNvPr id="7" name="Text 5"/>
          <p:cNvSpPr/>
          <p:nvPr/>
        </p:nvSpPr>
        <p:spPr>
          <a:xfrm>
            <a:off x="6400800" y="1207008"/>
            <a:ext cx="5120640" cy="201168"/>
          </a:xfrm>
          <a:prstGeom prst="rect">
            <a:avLst/>
          </a:prstGeom>
          <a:noFill/>
          <a:ln/>
        </p:spPr>
        <p:txBody>
          <a:bodyPr wrap="square" lIns="18288" tIns="9144" rIns="18288" bIns="9144" rtlCol="0" anchor="ctr">
            <a:normAutofit/>
          </a:bodyPr>
          <a:lstStyle/>
          <a:p>
            <a:pPr marL="0" indent="0">
              <a:buNone/>
            </a:pPr>
            <a:r>
              <a:rPr lang="en-US" sz="1200" b="1" dirty="0">
                <a:solidFill>
                  <a:srgbClr val="008B9F"/>
                </a:solidFill>
                <a:latin typeface="Aptos"/>
              </a:rPr>
              <a:t>PART 2: IMPLEMENTATION AND SECURITY</a:t>
            </a:r>
            <a:endParaRPr lang="en-US" sz="850" dirty="0"/>
          </a:p>
        </p:txBody>
      </p:sp>
      <p:sp>
        <p:nvSpPr>
          <p:cNvPr id="8" name="Text 6"/>
          <p:cNvSpPr/>
          <p:nvPr/>
        </p:nvSpPr>
        <p:spPr>
          <a:xfrm>
            <a:off x="6400800" y="1536192"/>
            <a:ext cx="5120640" cy="4206240"/>
          </a:xfrm>
          <a:prstGeom prst="rect">
            <a:avLst/>
          </a:prstGeom>
          <a:noFill/>
          <a:ln/>
        </p:spPr>
        <p:txBody>
          <a:bodyPr wrap="square" lIns="18288" tIns="9144" rIns="18288" bIns="9144" rtlCol="0" anchor="ctr">
            <a:normAutofit/>
          </a:bodyPr>
          <a:lstStyle/>
          <a:p>
            <a:r>
              <a:rPr lang="en-US" sz="1800" dirty="0" b="0">
                <a:solidFill>
                  <a:srgbClr val="233040"/>
                </a:solidFill>
                <a:latin typeface="Aptos"/>
              </a:rPr>
              <a:t>AWS hosting, monitoring and backup</a:t>
            </a:r>
            <a:endParaRPr lang="en-US" sz="1450" dirty="0"/>
          </a:p>
          <a:p>
            <a:r>
              <a:rPr lang="en-US" sz="1800" dirty="0" b="0">
                <a:solidFill>
                  <a:srgbClr val="233040"/>
                </a:solidFill>
                <a:latin typeface="Aptos"/>
              </a:rPr>
              <a:t>Azure identity, DNS and testing</a:t>
            </a:r>
            <a:endParaRPr lang="en-US" sz="1450" dirty="0"/>
          </a:p>
          <a:p>
            <a:r>
              <a:rPr lang="en-US" sz="1800" dirty="0" b="0">
                <a:solidFill>
                  <a:srgbClr val="233040"/>
                </a:solidFill>
                <a:latin typeface="Aptos"/>
              </a:rPr>
              <a:t>Fortinet, VPN and firewall integration</a:t>
            </a:r>
            <a:endParaRPr lang="en-US" sz="1450" dirty="0"/>
          </a:p>
          <a:p>
            <a:r>
              <a:rPr lang="en-US" sz="1800" dirty="0" b="0">
                <a:solidFill>
                  <a:srgbClr val="233040"/>
                </a:solidFill>
                <a:latin typeface="Aptos"/>
              </a:rPr>
              <a:t>Risk, incident handling and final verification</a:t>
            </a:r>
            <a:endParaRPr lang="en-US" sz="1450" dirty="0"/>
          </a:p>
        </p:txBody>
      </p:sp>
      <p:sp>
        <p:nvSpPr>
          <p:cNvPr id="9" name="Text 7"/>
          <p:cNvSpPr/>
          <p:nvPr/>
        </p:nvSpPr>
        <p:spPr>
          <a:xfrm>
            <a:off x="731520" y="5897880"/>
            <a:ext cx="10698480" cy="320040"/>
          </a:xfrm>
          <a:prstGeom prst="rect">
            <a:avLst/>
          </a:prstGeom>
          <a:noFill/>
          <a:ln/>
        </p:spPr>
        <p:txBody>
          <a:bodyPr wrap="square" lIns="18288" tIns="9144" rIns="18288" bIns="9144" rtlCol="0" anchor="ctr"/>
          <a:lstStyle/>
          <a:p>
            <a:pPr marL="0" indent="0" algn="ctr">
              <a:buNone/>
            </a:pPr>
            <a:r>
              <a:rPr lang="en-US" sz="1800" b="0" dirty="0">
                <a:solidFill>
                  <a:srgbClr val="233040"/>
                </a:solidFill>
                <a:latin typeface="Aptos"/>
              </a:rPr>
              <a:t>Suggested speaking split: Geni 13–15 min • Yusof 7–8 min • Hari 6–7 min</a:t>
            </a:r>
            <a:endParaRPr lang="en-US" sz="1500" dirty="0"/>
          </a:p>
        </p:txBody>
      </p:sp>
      <p:sp>
        <p:nvSpPr>
          <p:cNvPr id="12" name="Rectangle 11"/>
          <p:cNvSpPr/>
          <p:nvPr/>
        </p:nvSpPr>
        <p:spPr>
          <a:xfrm>
            <a:off x="502920" y="960120"/>
            <a:ext cx="10881360" cy="22860"/>
          </a:xfrm>
          <a:prstGeom prst="rect">
            <a:avLst/>
          </a:prstGeom>
          <a:solidFill>
            <a:srgbClr val="008B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6565392"/>
            <a:ext cx="10972800" cy="164592"/>
          </a:xfrm>
          <a:prstGeom prst="rect">
            <a:avLst/>
          </a:prstGeom>
          <a:noFill/>
        </p:spPr>
        <p:txBody>
          <a:bodyPr wrap="none">
            <a:spAutoFit/>
          </a:bodyPr>
          <a:lstStyle/>
          <a:p>
            <a:pPr algn="l"/>
            <a:r>
              <a:rPr sz="750">
                <a:solidFill>
                  <a:srgbClr val="607082"/>
                </a:solidFill>
                <a:latin typeface="Aptos"/>
              </a:rPr>
              <a:t>CCC604 Assessment 8  |  Multi-Cloud Security Integration  |  2</a:t>
            </a:r>
          </a:p>
        </p:txBody>
      </p:sp>
      <p:sp>
        <p:nvSpPr>
          <p:cNvPr id="14" name="Oval 13"/>
          <p:cNvSpPr/>
          <p:nvPr/>
        </p:nvSpPr>
        <p:spPr>
          <a:xfrm>
            <a:off x="11292840" y="6537960"/>
            <a:ext cx="128016" cy="128016"/>
          </a:xfrm>
          <a:prstGeom prst="ellipse">
            <a:avLst/>
          </a:prstGeom>
          <a:solidFill>
            <a:srgbClr val="008B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146304" cy="6858000"/>
          </a:xfrm>
          <a:prstGeom prst="rect">
            <a:avLst/>
          </a:prstGeom>
          <a:solidFill>
            <a:srgbClr val="008B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0"/>
            <a:ext cx="12192000"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 0"/>
          <p:cNvSpPr/>
          <p:nvPr/>
        </p:nvSpPr>
        <p:spPr>
          <a:xfrm>
            <a:off x="502920" y="201168"/>
            <a:ext cx="7680960" cy="411480"/>
          </a:xfrm>
          <a:prstGeom prst="rect">
            <a:avLst/>
          </a:prstGeom>
          <a:noFill/>
          <a:ln/>
        </p:spPr>
        <p:txBody>
          <a:bodyPr wrap="square" lIns="18288" tIns="9144" rIns="18288" bIns="9144" rtlCol="0" anchor="ctr"/>
          <a:lstStyle/>
          <a:p>
            <a:pPr marL="0" indent="0">
              <a:buNone/>
            </a:pPr>
            <a:r>
              <a:rPr lang="en-US" sz="2700" b="1" dirty="0">
                <a:solidFill>
                  <a:srgbClr val="0B1F33"/>
                </a:solidFill>
                <a:latin typeface="Aptos"/>
              </a:rPr>
              <a:t>Project scenario</a:t>
            </a:r>
            <a:endParaRPr lang="en-US" sz="2400" dirty="0"/>
          </a:p>
        </p:txBody>
      </p:sp>
      <p:sp>
        <p:nvSpPr>
          <p:cNvPr id="3" name="Text 1"/>
          <p:cNvSpPr/>
          <p:nvPr/>
        </p:nvSpPr>
        <p:spPr>
          <a:xfrm>
            <a:off x="530352" y="667512"/>
            <a:ext cx="7772400" cy="228600"/>
          </a:xfrm>
          <a:prstGeom prst="rect">
            <a:avLst/>
          </a:prstGeom>
          <a:noFill/>
          <a:ln/>
        </p:spPr>
        <p:txBody>
          <a:bodyPr wrap="square" lIns="18288" tIns="9144" rIns="18288" bIns="9144" rtlCol="0" anchor="ctr"/>
          <a:lstStyle/>
          <a:p>
            <a:pPr marL="0" indent="0">
              <a:buNone/>
            </a:pPr>
            <a:r>
              <a:rPr lang="en-US" sz="1350" dirty="0" b="0">
                <a:solidFill>
                  <a:srgbClr val="607082"/>
                </a:solidFill>
                <a:latin typeface="Aptos"/>
              </a:rPr>
              <a:t>Yoobee WordPress migration into a secure multi-cloud design</a:t>
            </a:r>
            <a:endParaRPr lang="en-US" sz="1050" dirty="0"/>
          </a:p>
        </p:txBody>
      </p:sp>
      <p:sp>
        <p:nvSpPr>
          <p:cNvPr id="4" name="Text 2"/>
          <p:cNvSpPr/>
          <p:nvPr/>
        </p:nvSpPr>
        <p:spPr>
          <a:xfrm>
            <a:off x="9372600" y="310896"/>
            <a:ext cx="2057400" cy="256032"/>
          </a:xfrm>
          <a:prstGeom prst="rect">
            <a:avLst/>
          </a:prstGeom>
          <a:solidFill>
            <a:srgbClr val="008B9F"/>
          </a:solidFill>
          <a:ln>
            <a:noFill/>
          </a:ln>
        </p:spPr>
        <p:txBody>
          <a:bodyPr wrap="square" lIns="18288" tIns="9144" rIns="18288" bIns="9144" rtlCol="0" anchor="ctr"/>
          <a:lstStyle/>
          <a:p>
            <a:pPr marL="0" indent="0" algn="ctr">
              <a:buNone/>
            </a:pPr>
            <a:r>
              <a:rPr lang="en-US" sz="950" b="1" dirty="0">
                <a:solidFill>
                  <a:srgbClr val="FFFFFF"/>
                </a:solidFill>
                <a:latin typeface="Aptos"/>
              </a:rPr>
              <a:t>Project overview</a:t>
            </a:r>
            <a:endParaRPr lang="en-US" sz="850" dirty="0"/>
          </a:p>
        </p:txBody>
      </p:sp>
      <p:pic>
        <p:nvPicPr>
          <p:cNvPr id="5" name="Image 0" descr="/mnt/data/ppt_assets/arch.png"/>
          <p:cNvPicPr>
            <a:picLocks noChangeAspect="1"/>
          </p:cNvPicPr>
          <p:nvPr/>
        </p:nvPicPr>
        <p:blipFill>
          <a:blip r:embed="rId3"/>
          <a:stretch>
            <a:fillRect/>
          </a:stretch>
        </p:blipFill>
        <p:spPr>
          <a:xfrm>
            <a:off x="7132320" y="1412793"/>
            <a:ext cx="4389120" cy="4215293"/>
          </a:xfrm>
          <a:prstGeom prst="rect">
            <a:avLst/>
          </a:prstGeom>
          <a:ln w="12700">
            <a:solidFill>
              <a:srgbClr val="D2DCE6"/>
            </a:solidFill>
          </a:ln>
        </p:spPr>
      </p:pic>
      <p:sp>
        <p:nvSpPr>
          <p:cNvPr id="6" name="Text 3"/>
          <p:cNvSpPr/>
          <p:nvPr/>
        </p:nvSpPr>
        <p:spPr>
          <a:xfrm>
            <a:off x="685800" y="1143000"/>
            <a:ext cx="5852160" cy="4480560"/>
          </a:xfrm>
          <a:prstGeom prst="rect">
            <a:avLst/>
          </a:prstGeom>
          <a:noFill/>
          <a:ln/>
        </p:spPr>
        <p:txBody>
          <a:bodyPr wrap="square" lIns="18288" tIns="9144" rIns="18288" bIns="9144" rtlCol="0" anchor="ctr">
            <a:normAutofit/>
          </a:bodyPr>
          <a:lstStyle/>
          <a:p>
            <a:r>
              <a:rPr lang="en-US" sz="1600" dirty="0" b="0">
                <a:solidFill>
                  <a:srgbClr val="233040"/>
                </a:solidFill>
                <a:latin typeface="Aptos"/>
              </a:rPr>
              <a:t>Existing WordPress infrastructure needed better security, availability and monitoring</a:t>
            </a:r>
            <a:endParaRPr lang="en-US" sz="1600" dirty="0"/>
          </a:p>
          <a:p>
            <a:r>
              <a:rPr lang="en-US" sz="1600" dirty="0" b="0">
                <a:solidFill>
                  <a:srgbClr val="233040"/>
                </a:solidFill>
                <a:latin typeface="Aptos"/>
              </a:rPr>
              <a:t>AWS was selected for the main workload hosting layer</a:t>
            </a:r>
            <a:endParaRPr lang="en-US" sz="1600" dirty="0"/>
          </a:p>
          <a:p>
            <a:r>
              <a:rPr lang="en-US" sz="1600" dirty="0" b="0">
                <a:solidFill>
                  <a:srgbClr val="233040"/>
                </a:solidFill>
                <a:latin typeface="Aptos"/>
              </a:rPr>
              <a:t>Azure supported identity, RBAC/MFA, DNS and access testing</a:t>
            </a:r>
            <a:endParaRPr lang="en-US" sz="1600" dirty="0"/>
          </a:p>
          <a:p>
            <a:r>
              <a:rPr lang="en-US" sz="1600" dirty="0" b="0">
                <a:solidFill>
                  <a:srgbClr val="233040"/>
                </a:solidFill>
                <a:latin typeface="Aptos"/>
              </a:rPr>
              <a:t>Fortinet FortiGate provided firewall/VPN security controls between environments</a:t>
            </a:r>
            <a:endParaRPr lang="en-US" sz="1600" dirty="0"/>
          </a:p>
        </p:txBody>
      </p:sp>
      <p:sp>
        <p:nvSpPr>
          <p:cNvPr id="9" name="Rectangle 8"/>
          <p:cNvSpPr/>
          <p:nvPr/>
        </p:nvSpPr>
        <p:spPr>
          <a:xfrm>
            <a:off x="502920" y="960120"/>
            <a:ext cx="10881360" cy="22860"/>
          </a:xfrm>
          <a:prstGeom prst="rect">
            <a:avLst/>
          </a:prstGeom>
          <a:solidFill>
            <a:srgbClr val="008B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565392"/>
            <a:ext cx="10972800" cy="164592"/>
          </a:xfrm>
          <a:prstGeom prst="rect">
            <a:avLst/>
          </a:prstGeom>
          <a:noFill/>
        </p:spPr>
        <p:txBody>
          <a:bodyPr wrap="none">
            <a:spAutoFit/>
          </a:bodyPr>
          <a:lstStyle/>
          <a:p>
            <a:pPr algn="l"/>
            <a:r>
              <a:rPr sz="750">
                <a:solidFill>
                  <a:srgbClr val="607082"/>
                </a:solidFill>
                <a:latin typeface="Aptos"/>
              </a:rPr>
              <a:t>CCC604 Assessment 8  |  Multi-Cloud Security Integration  |  3</a:t>
            </a:r>
          </a:p>
        </p:txBody>
      </p:sp>
      <p:sp>
        <p:nvSpPr>
          <p:cNvPr id="11" name="Oval 10"/>
          <p:cNvSpPr/>
          <p:nvPr/>
        </p:nvSpPr>
        <p:spPr>
          <a:xfrm>
            <a:off x="11292840" y="6537960"/>
            <a:ext cx="128016" cy="128016"/>
          </a:xfrm>
          <a:prstGeom prst="ellipse">
            <a:avLst/>
          </a:prstGeom>
          <a:solidFill>
            <a:srgbClr val="008B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1005840"/>
            <a:ext cx="1097280" cy="45720"/>
          </a:xfrm>
          <a:prstGeom prst="rect">
            <a:avLst/>
          </a:prstGeom>
          <a:solidFill>
            <a:srgbClr val="008B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0" y="0"/>
            <a:ext cx="146304" cy="6858000"/>
          </a:xfrm>
          <a:prstGeom prst="rect">
            <a:avLst/>
          </a:prstGeom>
          <a:solidFill>
            <a:srgbClr val="008B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0" y="0"/>
            <a:ext cx="12192000"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 0"/>
          <p:cNvSpPr/>
          <p:nvPr/>
        </p:nvSpPr>
        <p:spPr>
          <a:xfrm>
            <a:off x="502920" y="201168"/>
            <a:ext cx="7680960" cy="411480"/>
          </a:xfrm>
          <a:prstGeom prst="rect">
            <a:avLst/>
          </a:prstGeom>
          <a:noFill/>
          <a:ln/>
        </p:spPr>
        <p:txBody>
          <a:bodyPr wrap="square" lIns="18288" tIns="9144" rIns="18288" bIns="9144" rtlCol="0" anchor="ctr"/>
          <a:lstStyle/>
          <a:p>
            <a:pPr marL="0" indent="0">
              <a:buNone/>
            </a:pPr>
            <a:r>
              <a:rPr lang="en-US" sz="2700" b="1" dirty="0">
                <a:solidFill>
                  <a:srgbClr val="0B1F33"/>
                </a:solidFill>
                <a:latin typeface="Aptos"/>
              </a:rPr>
              <a:t>Project goals and success criteria</a:t>
            </a:r>
            <a:endParaRPr lang="en-US" sz="2400" dirty="0"/>
          </a:p>
        </p:txBody>
      </p:sp>
      <p:sp>
        <p:nvSpPr>
          <p:cNvPr id="3" name="Text 1"/>
          <p:cNvSpPr/>
          <p:nvPr/>
        </p:nvSpPr>
        <p:spPr>
          <a:xfrm>
            <a:off x="530352" y="667512"/>
            <a:ext cx="7772400" cy="228600"/>
          </a:xfrm>
          <a:prstGeom prst="rect">
            <a:avLst/>
          </a:prstGeom>
          <a:noFill/>
          <a:ln/>
        </p:spPr>
        <p:txBody>
          <a:bodyPr wrap="square" lIns="18288" tIns="9144" rIns="18288" bIns="9144" rtlCol="0" anchor="ctr"/>
          <a:lstStyle/>
          <a:p>
            <a:pPr marL="0" indent="0">
              <a:buNone/>
            </a:pPr>
            <a:r>
              <a:rPr lang="en-US" sz="1350" dirty="0" b="0">
                <a:solidFill>
                  <a:srgbClr val="607082"/>
                </a:solidFill>
                <a:latin typeface="Aptos"/>
              </a:rPr>
              <a:t>What we needed to prove by the end of the project</a:t>
            </a:r>
            <a:endParaRPr lang="en-US" sz="1050" dirty="0"/>
          </a:p>
        </p:txBody>
      </p:sp>
      <p:sp>
        <p:nvSpPr>
          <p:cNvPr id="4" name="Text 2"/>
          <p:cNvSpPr/>
          <p:nvPr/>
        </p:nvSpPr>
        <p:spPr>
          <a:xfrm>
            <a:off x="9372600" y="310896"/>
            <a:ext cx="2057400" cy="256032"/>
          </a:xfrm>
          <a:prstGeom prst="rect">
            <a:avLst/>
          </a:prstGeom>
          <a:solidFill>
            <a:srgbClr val="008B9F"/>
          </a:solidFill>
          <a:ln>
            <a:noFill/>
          </a:ln>
        </p:spPr>
        <p:txBody>
          <a:bodyPr wrap="square" lIns="18288" tIns="9144" rIns="18288" bIns="9144" rtlCol="0" anchor="ctr"/>
          <a:lstStyle/>
          <a:p>
            <a:pPr marL="0" indent="0" algn="ctr">
              <a:buNone/>
            </a:pPr>
            <a:r>
              <a:rPr lang="en-US" sz="950" b="1" dirty="0">
                <a:solidFill>
                  <a:srgbClr val="FFFFFF"/>
                </a:solidFill>
                <a:latin typeface="Aptos"/>
              </a:rPr>
              <a:t>Project overview</a:t>
            </a:r>
            <a:endParaRPr lang="en-US" sz="850" dirty="0"/>
          </a:p>
        </p:txBody>
      </p:sp>
      <p:sp>
        <p:nvSpPr>
          <p:cNvPr id="5" name="Text 3"/>
          <p:cNvSpPr/>
          <p:nvPr/>
        </p:nvSpPr>
        <p:spPr>
          <a:xfrm>
            <a:off x="731520" y="1143000"/>
            <a:ext cx="1600200" cy="548640"/>
          </a:xfrm>
          <a:prstGeom prst="rect">
            <a:avLst/>
          </a:prstGeom>
          <a:noFill/>
          <a:ln/>
        </p:spPr>
        <p:txBody>
          <a:bodyPr wrap="square" lIns="18288" tIns="9144" rIns="18288" bIns="9144" rtlCol="0" anchor="ctr"/>
          <a:lstStyle/>
          <a:p>
            <a:pPr marL="0" indent="0" algn="ctr">
              <a:buNone/>
            </a:pPr>
            <a:r>
              <a:rPr lang="en-US" sz="1800" b="0" dirty="0">
                <a:solidFill>
                  <a:srgbClr val="233040"/>
                </a:solidFill>
                <a:latin typeface="Aptos"/>
              </a:rPr>
              <a:t>1</a:t>
            </a:r>
            <a:endParaRPr lang="en-US" sz="3100" dirty="0"/>
          </a:p>
        </p:txBody>
      </p:sp>
      <p:sp>
        <p:nvSpPr>
          <p:cNvPr id="6" name="Text 4"/>
          <p:cNvSpPr/>
          <p:nvPr/>
        </p:nvSpPr>
        <p:spPr>
          <a:xfrm>
            <a:off x="640080" y="1709928"/>
            <a:ext cx="1783080" cy="320040"/>
          </a:xfrm>
          <a:prstGeom prst="rect">
            <a:avLst/>
          </a:prstGeom>
          <a:noFill/>
          <a:ln/>
        </p:spPr>
        <p:txBody>
          <a:bodyPr wrap="square" lIns="18288" tIns="9144" rIns="18288" bIns="9144" rtlCol="0" anchor="ctr">
            <a:normAutofit/>
          </a:bodyPr>
          <a:lstStyle/>
          <a:p>
            <a:pPr marL="0" indent="0" algn="ctr">
              <a:buNone/>
            </a:pPr>
            <a:r>
              <a:rPr lang="en-US" sz="1800" dirty="0" b="0">
                <a:solidFill>
                  <a:srgbClr val="233040"/>
                </a:solidFill>
                <a:latin typeface="Aptos"/>
              </a:rPr>
              <a:t>Secure workload hosting</a:t>
            </a:r>
            <a:endParaRPr lang="en-US" sz="950" dirty="0"/>
          </a:p>
        </p:txBody>
      </p:sp>
      <p:sp>
        <p:nvSpPr>
          <p:cNvPr id="7" name="Text 5"/>
          <p:cNvSpPr/>
          <p:nvPr/>
        </p:nvSpPr>
        <p:spPr>
          <a:xfrm>
            <a:off x="2880360" y="1143000"/>
            <a:ext cx="1600200" cy="548640"/>
          </a:xfrm>
          <a:prstGeom prst="rect">
            <a:avLst/>
          </a:prstGeom>
          <a:noFill/>
          <a:ln/>
        </p:spPr>
        <p:txBody>
          <a:bodyPr wrap="square" lIns="18288" tIns="9144" rIns="18288" bIns="9144" rtlCol="0" anchor="ctr"/>
          <a:lstStyle/>
          <a:p>
            <a:pPr marL="0" indent="0" algn="ctr">
              <a:buNone/>
            </a:pPr>
            <a:r>
              <a:rPr lang="en-US" sz="1800" b="0" dirty="0">
                <a:solidFill>
                  <a:srgbClr val="233040"/>
                </a:solidFill>
                <a:latin typeface="Aptos"/>
              </a:rPr>
              <a:t>2</a:t>
            </a:r>
            <a:endParaRPr lang="en-US" sz="3100" dirty="0"/>
          </a:p>
        </p:txBody>
      </p:sp>
      <p:sp>
        <p:nvSpPr>
          <p:cNvPr id="8" name="Text 6"/>
          <p:cNvSpPr/>
          <p:nvPr/>
        </p:nvSpPr>
        <p:spPr>
          <a:xfrm>
            <a:off x="2788920" y="1709928"/>
            <a:ext cx="1783080" cy="320040"/>
          </a:xfrm>
          <a:prstGeom prst="rect">
            <a:avLst/>
          </a:prstGeom>
          <a:noFill/>
          <a:ln/>
        </p:spPr>
        <p:txBody>
          <a:bodyPr wrap="square" lIns="18288" tIns="9144" rIns="18288" bIns="9144" rtlCol="0" anchor="ctr">
            <a:normAutofit/>
          </a:bodyPr>
          <a:lstStyle/>
          <a:p>
            <a:pPr marL="0" indent="0" algn="ctr">
              <a:buNone/>
            </a:pPr>
            <a:r>
              <a:rPr lang="en-US" sz="1800" dirty="0" b="0">
                <a:solidFill>
                  <a:srgbClr val="233040"/>
                </a:solidFill>
                <a:latin typeface="Aptos"/>
              </a:rPr>
              <a:t>Multi-cloud integration</a:t>
            </a:r>
            <a:endParaRPr lang="en-US" sz="950" dirty="0"/>
          </a:p>
        </p:txBody>
      </p:sp>
      <p:sp>
        <p:nvSpPr>
          <p:cNvPr id="9" name="Text 7"/>
          <p:cNvSpPr/>
          <p:nvPr/>
        </p:nvSpPr>
        <p:spPr>
          <a:xfrm>
            <a:off x="5029200" y="1143000"/>
            <a:ext cx="1600200" cy="548640"/>
          </a:xfrm>
          <a:prstGeom prst="rect">
            <a:avLst/>
          </a:prstGeom>
          <a:noFill/>
          <a:ln/>
        </p:spPr>
        <p:txBody>
          <a:bodyPr wrap="square" lIns="18288" tIns="9144" rIns="18288" bIns="9144" rtlCol="0" anchor="ctr"/>
          <a:lstStyle/>
          <a:p>
            <a:pPr marL="0" indent="0" algn="ctr">
              <a:buNone/>
            </a:pPr>
            <a:r>
              <a:rPr lang="en-US" sz="1800" b="0" dirty="0">
                <a:solidFill>
                  <a:srgbClr val="233040"/>
                </a:solidFill>
                <a:latin typeface="Aptos"/>
              </a:rPr>
              <a:t>3</a:t>
            </a:r>
            <a:endParaRPr lang="en-US" sz="3100" dirty="0"/>
          </a:p>
        </p:txBody>
      </p:sp>
      <p:sp>
        <p:nvSpPr>
          <p:cNvPr id="10" name="Text 8"/>
          <p:cNvSpPr/>
          <p:nvPr/>
        </p:nvSpPr>
        <p:spPr>
          <a:xfrm>
            <a:off x="4937760" y="1709928"/>
            <a:ext cx="1783080" cy="320040"/>
          </a:xfrm>
          <a:prstGeom prst="rect">
            <a:avLst/>
          </a:prstGeom>
          <a:noFill/>
          <a:ln/>
        </p:spPr>
        <p:txBody>
          <a:bodyPr wrap="square" lIns="18288" tIns="9144" rIns="18288" bIns="9144" rtlCol="0" anchor="ctr">
            <a:normAutofit/>
          </a:bodyPr>
          <a:lstStyle/>
          <a:p>
            <a:pPr marL="0" indent="0" algn="ctr">
              <a:buNone/>
            </a:pPr>
            <a:r>
              <a:rPr lang="en-US" sz="1800" dirty="0" b="0">
                <a:solidFill>
                  <a:srgbClr val="233040"/>
                </a:solidFill>
                <a:latin typeface="Aptos"/>
              </a:rPr>
              <a:t>Risk + incident handling</a:t>
            </a:r>
            <a:endParaRPr lang="en-US" sz="950" dirty="0"/>
          </a:p>
        </p:txBody>
      </p:sp>
      <p:sp>
        <p:nvSpPr>
          <p:cNvPr id="11" name="Text 9"/>
          <p:cNvSpPr/>
          <p:nvPr/>
        </p:nvSpPr>
        <p:spPr>
          <a:xfrm>
            <a:off x="7178040" y="1143000"/>
            <a:ext cx="1600200" cy="548640"/>
          </a:xfrm>
          <a:prstGeom prst="rect">
            <a:avLst/>
          </a:prstGeom>
          <a:noFill/>
          <a:ln/>
        </p:spPr>
        <p:txBody>
          <a:bodyPr wrap="square" lIns="18288" tIns="9144" rIns="18288" bIns="9144" rtlCol="0" anchor="ctr"/>
          <a:lstStyle/>
          <a:p>
            <a:pPr marL="0" indent="0" algn="ctr">
              <a:buNone/>
            </a:pPr>
            <a:r>
              <a:rPr lang="en-US" sz="1800" b="0" dirty="0">
                <a:solidFill>
                  <a:srgbClr val="233040"/>
                </a:solidFill>
                <a:latin typeface="Aptos"/>
              </a:rPr>
              <a:t>4</a:t>
            </a:r>
            <a:endParaRPr lang="en-US" sz="3100" dirty="0"/>
          </a:p>
        </p:txBody>
      </p:sp>
      <p:sp>
        <p:nvSpPr>
          <p:cNvPr id="12" name="Text 10"/>
          <p:cNvSpPr/>
          <p:nvPr/>
        </p:nvSpPr>
        <p:spPr>
          <a:xfrm>
            <a:off x="7086600" y="1709928"/>
            <a:ext cx="1783080" cy="320040"/>
          </a:xfrm>
          <a:prstGeom prst="rect">
            <a:avLst/>
          </a:prstGeom>
          <a:noFill/>
          <a:ln/>
        </p:spPr>
        <p:txBody>
          <a:bodyPr wrap="square" lIns="18288" tIns="9144" rIns="18288" bIns="9144" rtlCol="0" anchor="ctr">
            <a:normAutofit/>
          </a:bodyPr>
          <a:lstStyle/>
          <a:p>
            <a:pPr marL="0" indent="0" algn="ctr">
              <a:buNone/>
            </a:pPr>
            <a:r>
              <a:rPr lang="en-US" sz="1800" dirty="0" b="0">
                <a:solidFill>
                  <a:srgbClr val="233040"/>
                </a:solidFill>
                <a:latin typeface="Aptos"/>
              </a:rPr>
              <a:t>Final verification</a:t>
            </a:r>
            <a:endParaRPr lang="en-US" sz="950" dirty="0"/>
          </a:p>
        </p:txBody>
      </p:sp>
      <p:sp>
        <p:nvSpPr>
          <p:cNvPr id="13" name="Text 11"/>
          <p:cNvSpPr/>
          <p:nvPr/>
        </p:nvSpPr>
        <p:spPr>
          <a:xfrm>
            <a:off x="868680" y="2423160"/>
            <a:ext cx="10515600" cy="3108960"/>
          </a:xfrm>
          <a:prstGeom prst="rect">
            <a:avLst/>
          </a:prstGeom>
          <a:noFill/>
          <a:ln/>
        </p:spPr>
        <p:txBody>
          <a:bodyPr wrap="square" lIns="18288" tIns="9144" rIns="18288" bIns="9144" rtlCol="0" anchor="ctr">
            <a:normAutofit/>
          </a:bodyPr>
          <a:lstStyle/>
          <a:p>
            <a:r>
              <a:rPr lang="en-US" sz="1600" dirty="0" b="0">
                <a:solidFill>
                  <a:srgbClr val="233040"/>
                </a:solidFill>
                <a:latin typeface="Aptos"/>
              </a:rPr>
              <a:t>Functional WordPress application with database back end</a:t>
            </a:r>
            <a:endParaRPr lang="en-US" sz="1700" dirty="0"/>
          </a:p>
          <a:p>
            <a:r>
              <a:rPr lang="en-US" sz="1600" dirty="0" b="0">
                <a:solidFill>
                  <a:srgbClr val="233040"/>
                </a:solidFill>
                <a:latin typeface="Aptos"/>
              </a:rPr>
              <a:t>Separate public/private network design with controlled access</a:t>
            </a:r>
            <a:endParaRPr lang="en-US" sz="1700" dirty="0"/>
          </a:p>
          <a:p>
            <a:r>
              <a:rPr lang="en-US" sz="1600" dirty="0" b="0">
                <a:solidFill>
                  <a:srgbClr val="233040"/>
                </a:solidFill>
                <a:latin typeface="Aptos"/>
              </a:rPr>
              <a:t>Monitoring, notification, backup and HTTPS evidence</a:t>
            </a:r>
            <a:endParaRPr lang="en-US" sz="1700" dirty="0"/>
          </a:p>
          <a:p>
            <a:r>
              <a:rPr lang="en-US" sz="1600" dirty="0" b="0">
                <a:solidFill>
                  <a:srgbClr val="233040"/>
                </a:solidFill>
                <a:latin typeface="Aptos"/>
              </a:rPr>
              <a:t>Clear risk assessment and incident analysis based on project testing</a:t>
            </a:r>
            <a:endParaRPr lang="en-US" sz="1700" dirty="0"/>
          </a:p>
        </p:txBody>
      </p:sp>
      <p:sp>
        <p:nvSpPr>
          <p:cNvPr id="16" name="Rectangle 15"/>
          <p:cNvSpPr/>
          <p:nvPr/>
        </p:nvSpPr>
        <p:spPr>
          <a:xfrm>
            <a:off x="502920" y="960120"/>
            <a:ext cx="10881360" cy="22860"/>
          </a:xfrm>
          <a:prstGeom prst="rect">
            <a:avLst/>
          </a:prstGeom>
          <a:solidFill>
            <a:srgbClr val="008B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6565392"/>
            <a:ext cx="10972800" cy="164592"/>
          </a:xfrm>
          <a:prstGeom prst="rect">
            <a:avLst/>
          </a:prstGeom>
          <a:noFill/>
        </p:spPr>
        <p:txBody>
          <a:bodyPr wrap="none">
            <a:spAutoFit/>
          </a:bodyPr>
          <a:lstStyle/>
          <a:p>
            <a:pPr algn="l"/>
            <a:r>
              <a:rPr sz="750">
                <a:solidFill>
                  <a:srgbClr val="607082"/>
                </a:solidFill>
                <a:latin typeface="Aptos"/>
              </a:rPr>
              <a:t>CCC604 Assessment 8  |  Multi-Cloud Security Integration  |  4</a:t>
            </a:r>
          </a:p>
        </p:txBody>
      </p:sp>
      <p:sp>
        <p:nvSpPr>
          <p:cNvPr id="18" name="Oval 17"/>
          <p:cNvSpPr/>
          <p:nvPr/>
        </p:nvSpPr>
        <p:spPr>
          <a:xfrm>
            <a:off x="11292840" y="6537960"/>
            <a:ext cx="128016" cy="128016"/>
          </a:xfrm>
          <a:prstGeom prst="ellipse">
            <a:avLst/>
          </a:prstGeom>
          <a:solidFill>
            <a:srgbClr val="008B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p:cNvSpPr/>
          <p:nvPr/>
        </p:nvSpPr>
        <p:spPr>
          <a:xfrm>
            <a:off x="0" y="0"/>
            <a:ext cx="146304" cy="6858000"/>
          </a:xfrm>
          <a:prstGeom prst="rect">
            <a:avLst/>
          </a:prstGeom>
          <a:solidFill>
            <a:srgbClr val="008B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0"/>
            <a:ext cx="12192000"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 0"/>
          <p:cNvSpPr/>
          <p:nvPr/>
        </p:nvSpPr>
        <p:spPr>
          <a:xfrm>
            <a:off x="502920" y="201168"/>
            <a:ext cx="7680960" cy="411480"/>
          </a:xfrm>
          <a:prstGeom prst="rect">
            <a:avLst/>
          </a:prstGeom>
          <a:noFill/>
          <a:ln/>
        </p:spPr>
        <p:txBody>
          <a:bodyPr wrap="square" lIns="18288" tIns="9144" rIns="18288" bIns="9144" rtlCol="0" anchor="ctr"/>
          <a:lstStyle/>
          <a:p>
            <a:pPr marL="0" indent="0">
              <a:buNone/>
            </a:pPr>
            <a:r>
              <a:rPr lang="en-US" sz="2700" b="1" dirty="0">
                <a:solidFill>
                  <a:srgbClr val="0B1F33"/>
                </a:solidFill>
                <a:latin typeface="Aptos"/>
              </a:rPr>
              <a:t>Team roles and responsibilities</a:t>
            </a:r>
            <a:endParaRPr lang="en-US" sz="2400" dirty="0"/>
          </a:p>
        </p:txBody>
      </p:sp>
      <p:sp>
        <p:nvSpPr>
          <p:cNvPr id="3" name="Text 1"/>
          <p:cNvSpPr/>
          <p:nvPr/>
        </p:nvSpPr>
        <p:spPr>
          <a:xfrm>
            <a:off x="530352" y="667512"/>
            <a:ext cx="7772400" cy="228600"/>
          </a:xfrm>
          <a:prstGeom prst="rect">
            <a:avLst/>
          </a:prstGeom>
          <a:noFill/>
          <a:ln/>
        </p:spPr>
        <p:txBody>
          <a:bodyPr wrap="square" lIns="18288" tIns="9144" rIns="18288" bIns="9144" rtlCol="0" anchor="ctr"/>
          <a:lstStyle/>
          <a:p>
            <a:pPr marL="0" indent="0">
              <a:buNone/>
            </a:pPr>
            <a:r>
              <a:rPr lang="en-US" sz="1350" dirty="0" b="0">
                <a:solidFill>
                  <a:srgbClr val="607082"/>
                </a:solidFill>
                <a:latin typeface="Aptos"/>
              </a:rPr>
              <a:t>Each member owned a clear part of the project</a:t>
            </a:r>
            <a:endParaRPr lang="en-US" sz="1050" dirty="0"/>
          </a:p>
        </p:txBody>
      </p:sp>
      <p:sp>
        <p:nvSpPr>
          <p:cNvPr id="4" name="Text 2"/>
          <p:cNvSpPr/>
          <p:nvPr/>
        </p:nvSpPr>
        <p:spPr>
          <a:xfrm>
            <a:off x="9372600" y="310896"/>
            <a:ext cx="2057400" cy="256032"/>
          </a:xfrm>
          <a:prstGeom prst="rect">
            <a:avLst/>
          </a:prstGeom>
          <a:solidFill>
            <a:srgbClr val="008B9F"/>
          </a:solidFill>
          <a:ln>
            <a:noFill/>
          </a:ln>
        </p:spPr>
        <p:txBody>
          <a:bodyPr wrap="square" lIns="18288" tIns="9144" rIns="18288" bIns="9144" rtlCol="0" anchor="ctr"/>
          <a:lstStyle/>
          <a:p>
            <a:pPr marL="0" indent="0" algn="ctr">
              <a:buNone/>
            </a:pPr>
            <a:r>
              <a:rPr lang="en-US" sz="950" b="1" dirty="0">
                <a:solidFill>
                  <a:srgbClr val="FFFFFF"/>
                </a:solidFill>
                <a:latin typeface="Aptos"/>
              </a:rPr>
              <a:t>Task 1</a:t>
            </a:r>
            <a:endParaRPr lang="en-US" sz="850" dirty="0"/>
          </a:p>
        </p:txBody>
      </p:sp>
      <p:sp>
        <p:nvSpPr>
          <p:cNvPr id="5" name="Text 3"/>
          <p:cNvSpPr/>
          <p:nvPr/>
        </p:nvSpPr>
        <p:spPr>
          <a:xfrm>
            <a:off x="731520" y="1170432"/>
            <a:ext cx="3200400" cy="201168"/>
          </a:xfrm>
          <a:prstGeom prst="rect">
            <a:avLst/>
          </a:prstGeom>
          <a:noFill/>
          <a:ln/>
        </p:spPr>
        <p:txBody>
          <a:bodyPr wrap="square" lIns="18288" tIns="9144" rIns="18288" bIns="9144" rtlCol="0" anchor="ctr">
            <a:normAutofit/>
          </a:bodyPr>
          <a:lstStyle/>
          <a:p>
            <a:pPr marL="0" indent="0">
              <a:buNone/>
            </a:pPr>
            <a:r>
              <a:rPr lang="en-US" sz="1200" b="1" dirty="0">
                <a:solidFill>
                  <a:srgbClr val="008B9F"/>
                </a:solidFill>
                <a:latin typeface="Aptos"/>
              </a:rPr>
              <a:t>GENI BAHAR</a:t>
            </a:r>
            <a:endParaRPr lang="en-US" sz="850" dirty="0"/>
          </a:p>
        </p:txBody>
      </p:sp>
      <p:sp>
        <p:nvSpPr>
          <p:cNvPr id="6" name="Text 4"/>
          <p:cNvSpPr/>
          <p:nvPr/>
        </p:nvSpPr>
        <p:spPr>
          <a:xfrm>
            <a:off x="731520" y="1508760"/>
            <a:ext cx="3383280" cy="2468880"/>
          </a:xfrm>
          <a:prstGeom prst="rect">
            <a:avLst/>
          </a:prstGeom>
          <a:noFill/>
          <a:ln/>
        </p:spPr>
        <p:txBody>
          <a:bodyPr wrap="square" lIns="18288" tIns="9144" rIns="18288" bIns="9144" rtlCol="0" anchor="ctr">
            <a:normAutofit/>
          </a:bodyPr>
          <a:lstStyle/>
          <a:p>
            <a:r>
              <a:rPr lang="en-US" sz="1800" dirty="0" b="0">
                <a:solidFill>
                  <a:srgbClr val="233040"/>
                </a:solidFill>
                <a:latin typeface="Aptos"/>
              </a:rPr>
              <a:t>AWS implementation lead</a:t>
            </a:r>
            <a:endParaRPr lang="en-US" sz="1450" dirty="0"/>
          </a:p>
          <a:p>
            <a:r>
              <a:rPr lang="en-US" sz="1800" dirty="0" b="0">
                <a:solidFill>
                  <a:srgbClr val="233040"/>
                </a:solidFill>
                <a:latin typeface="Aptos"/>
              </a:rPr>
              <a:t>FortiGate/VPN integration support</a:t>
            </a:r>
            <a:endParaRPr lang="en-US" sz="1450" dirty="0"/>
          </a:p>
          <a:p>
            <a:r>
              <a:rPr lang="en-US" sz="1800" dirty="0" b="0">
                <a:solidFill>
                  <a:srgbClr val="233040"/>
                </a:solidFill>
                <a:latin typeface="Aptos"/>
              </a:rPr>
              <a:t>Risk and security evidence</a:t>
            </a:r>
            <a:endParaRPr lang="en-US" sz="1450" dirty="0"/>
          </a:p>
        </p:txBody>
      </p:sp>
      <p:sp>
        <p:nvSpPr>
          <p:cNvPr id="7" name="Text 5"/>
          <p:cNvSpPr/>
          <p:nvPr/>
        </p:nvSpPr>
        <p:spPr>
          <a:xfrm>
            <a:off x="4343400" y="1170432"/>
            <a:ext cx="3200400" cy="201168"/>
          </a:xfrm>
          <a:prstGeom prst="rect">
            <a:avLst/>
          </a:prstGeom>
          <a:noFill/>
          <a:ln/>
        </p:spPr>
        <p:txBody>
          <a:bodyPr wrap="square" lIns="18288" tIns="9144" rIns="18288" bIns="9144" rtlCol="0" anchor="ctr">
            <a:normAutofit/>
          </a:bodyPr>
          <a:lstStyle/>
          <a:p>
            <a:pPr marL="0" indent="0">
              <a:buNone/>
            </a:pPr>
            <a:r>
              <a:rPr lang="en-US" sz="1200" b="1" dirty="0">
                <a:solidFill>
                  <a:srgbClr val="008B9F"/>
                </a:solidFill>
                <a:latin typeface="Aptos"/>
              </a:rPr>
              <a:t>YUSOF SHARIFZAI</a:t>
            </a:r>
            <a:endParaRPr lang="en-US" sz="850" dirty="0"/>
          </a:p>
        </p:txBody>
      </p:sp>
      <p:sp>
        <p:nvSpPr>
          <p:cNvPr id="8" name="Text 6"/>
          <p:cNvSpPr/>
          <p:nvPr/>
        </p:nvSpPr>
        <p:spPr>
          <a:xfrm>
            <a:off x="4343400" y="1508760"/>
            <a:ext cx="3383280" cy="2468880"/>
          </a:xfrm>
          <a:prstGeom prst="rect">
            <a:avLst/>
          </a:prstGeom>
          <a:noFill/>
          <a:ln/>
        </p:spPr>
        <p:txBody>
          <a:bodyPr wrap="square" lIns="18288" tIns="9144" rIns="18288" bIns="9144" rtlCol="0" anchor="ctr">
            <a:normAutofit/>
          </a:bodyPr>
          <a:lstStyle/>
          <a:p>
            <a:r>
              <a:rPr lang="en-US" sz="1800" dirty="0" b="0">
                <a:solidFill>
                  <a:srgbClr val="233040"/>
                </a:solidFill>
                <a:latin typeface="Aptos"/>
              </a:rPr>
              <a:t>Azure implementation lead</a:t>
            </a:r>
            <a:endParaRPr lang="en-US" sz="1450" dirty="0"/>
          </a:p>
          <a:p>
            <a:r>
              <a:rPr lang="en-US" sz="1800" dirty="0" b="0">
                <a:solidFill>
                  <a:srgbClr val="233040"/>
                </a:solidFill>
                <a:latin typeface="Aptos"/>
              </a:rPr>
              <a:t>RBAC/MFA, Azure AD and DNS</a:t>
            </a:r>
            <a:endParaRPr lang="en-US" sz="1450" dirty="0"/>
          </a:p>
          <a:p>
            <a:r>
              <a:rPr lang="en-US" sz="1800" dirty="0" b="0">
                <a:solidFill>
                  <a:srgbClr val="233040"/>
                </a:solidFill>
                <a:latin typeface="Aptos"/>
              </a:rPr>
              <a:t>HTTPS/VPN testing evidence</a:t>
            </a:r>
            <a:endParaRPr lang="en-US" sz="1450" dirty="0"/>
          </a:p>
        </p:txBody>
      </p:sp>
      <p:sp>
        <p:nvSpPr>
          <p:cNvPr id="9" name="Text 7"/>
          <p:cNvSpPr/>
          <p:nvPr/>
        </p:nvSpPr>
        <p:spPr>
          <a:xfrm>
            <a:off x="7955280" y="1170432"/>
            <a:ext cx="3200400" cy="201168"/>
          </a:xfrm>
          <a:prstGeom prst="rect">
            <a:avLst/>
          </a:prstGeom>
          <a:noFill/>
          <a:ln/>
        </p:spPr>
        <p:txBody>
          <a:bodyPr wrap="square" lIns="18288" tIns="9144" rIns="18288" bIns="9144" rtlCol="0" anchor="ctr">
            <a:normAutofit/>
          </a:bodyPr>
          <a:lstStyle/>
          <a:p>
            <a:pPr marL="0" indent="0">
              <a:buNone/>
            </a:pPr>
            <a:r>
              <a:rPr lang="en-US" sz="1200" b="1" dirty="0">
                <a:solidFill>
                  <a:srgbClr val="008B9F"/>
                </a:solidFill>
                <a:latin typeface="Aptos"/>
              </a:rPr>
              <a:t>HARI TAMANG</a:t>
            </a:r>
            <a:endParaRPr lang="en-US" sz="850" dirty="0"/>
          </a:p>
        </p:txBody>
      </p:sp>
      <p:sp>
        <p:nvSpPr>
          <p:cNvPr id="10" name="Text 8"/>
          <p:cNvSpPr/>
          <p:nvPr/>
        </p:nvSpPr>
        <p:spPr>
          <a:xfrm>
            <a:off x="7955280" y="1508760"/>
            <a:ext cx="3383280" cy="2468880"/>
          </a:xfrm>
          <a:prstGeom prst="rect">
            <a:avLst/>
          </a:prstGeom>
          <a:noFill/>
          <a:ln/>
        </p:spPr>
        <p:txBody>
          <a:bodyPr wrap="square" lIns="18288" tIns="9144" rIns="18288" bIns="9144" rtlCol="0" anchor="ctr">
            <a:normAutofit/>
          </a:bodyPr>
          <a:lstStyle/>
          <a:p>
            <a:r>
              <a:rPr lang="en-US" sz="1800" dirty="0" b="0">
                <a:solidFill>
                  <a:srgbClr val="233040"/>
                </a:solidFill>
                <a:latin typeface="Aptos"/>
              </a:rPr>
              <a:t>Project coordination support</a:t>
            </a:r>
            <a:endParaRPr lang="en-US" sz="1450" dirty="0"/>
          </a:p>
          <a:p>
            <a:r>
              <a:rPr lang="en-US" sz="1800" dirty="0" b="0">
                <a:solidFill>
                  <a:srgbClr val="233040"/>
                </a:solidFill>
                <a:latin typeface="Aptos"/>
              </a:rPr>
              <a:t>Testing and screenshot collection</a:t>
            </a:r>
            <a:endParaRPr lang="en-US" sz="1450" dirty="0"/>
          </a:p>
          <a:p>
            <a:r>
              <a:rPr lang="en-US" sz="1800" dirty="0" b="0">
                <a:solidFill>
                  <a:srgbClr val="233040"/>
                </a:solidFill>
                <a:latin typeface="Aptos"/>
              </a:rPr>
              <a:t>Incident analysis support</a:t>
            </a:r>
            <a:endParaRPr lang="en-US" sz="1450" dirty="0"/>
          </a:p>
        </p:txBody>
      </p:sp>
      <p:pic>
        <p:nvPicPr>
          <p:cNvPr id="11" name="Image 0" descr="/mnt/data/ppt_assets/page_008.png"/>
          <p:cNvPicPr>
            <a:picLocks noChangeAspect="1"/>
          </p:cNvPicPr>
          <p:nvPr/>
        </p:nvPicPr>
        <p:blipFill>
          <a:blip r:embed="rId3"/>
          <a:stretch>
            <a:fillRect/>
          </a:stretch>
        </p:blipFill>
        <p:spPr>
          <a:xfrm>
            <a:off x="5579564" y="4297680"/>
            <a:ext cx="1002392" cy="1417320"/>
          </a:xfrm>
          <a:prstGeom prst="rect">
            <a:avLst/>
          </a:prstGeom>
          <a:ln w="12700">
            <a:solidFill>
              <a:srgbClr val="D2DCE6"/>
            </a:solidFill>
          </a:ln>
        </p:spPr>
      </p:pic>
      <p:sp>
        <p:nvSpPr>
          <p:cNvPr id="14" name="Rectangle 13"/>
          <p:cNvSpPr/>
          <p:nvPr/>
        </p:nvSpPr>
        <p:spPr>
          <a:xfrm>
            <a:off x="502920" y="960120"/>
            <a:ext cx="10881360" cy="22860"/>
          </a:xfrm>
          <a:prstGeom prst="rect">
            <a:avLst/>
          </a:prstGeom>
          <a:solidFill>
            <a:srgbClr val="008B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6565392"/>
            <a:ext cx="10972800" cy="164592"/>
          </a:xfrm>
          <a:prstGeom prst="rect">
            <a:avLst/>
          </a:prstGeom>
          <a:noFill/>
        </p:spPr>
        <p:txBody>
          <a:bodyPr wrap="none">
            <a:spAutoFit/>
          </a:bodyPr>
          <a:lstStyle/>
          <a:p>
            <a:pPr algn="l"/>
            <a:r>
              <a:rPr sz="750">
                <a:solidFill>
                  <a:srgbClr val="607082"/>
                </a:solidFill>
                <a:latin typeface="Aptos"/>
              </a:rPr>
              <a:t>CCC604 Assessment 8  |  Multi-Cloud Security Integration  |  5</a:t>
            </a:r>
          </a:p>
        </p:txBody>
      </p:sp>
      <p:sp>
        <p:nvSpPr>
          <p:cNvPr id="16" name="Oval 15"/>
          <p:cNvSpPr/>
          <p:nvPr/>
        </p:nvSpPr>
        <p:spPr>
          <a:xfrm>
            <a:off x="11292840" y="6537960"/>
            <a:ext cx="128016" cy="128016"/>
          </a:xfrm>
          <a:prstGeom prst="ellipse">
            <a:avLst/>
          </a:prstGeom>
          <a:solidFill>
            <a:srgbClr val="008B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146304" cy="6858000"/>
          </a:xfrm>
          <a:prstGeom prst="rect">
            <a:avLst/>
          </a:prstGeom>
          <a:solidFill>
            <a:srgbClr val="008B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0"/>
            <a:ext cx="12192000"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 0"/>
          <p:cNvSpPr/>
          <p:nvPr/>
        </p:nvSpPr>
        <p:spPr>
          <a:xfrm>
            <a:off x="502920" y="201168"/>
            <a:ext cx="7680960" cy="411480"/>
          </a:xfrm>
          <a:prstGeom prst="rect">
            <a:avLst/>
          </a:prstGeom>
          <a:noFill/>
          <a:ln/>
        </p:spPr>
        <p:txBody>
          <a:bodyPr wrap="square" lIns="18288" tIns="9144" rIns="18288" bIns="9144" rtlCol="0" anchor="ctr"/>
          <a:lstStyle/>
          <a:p>
            <a:pPr marL="0" indent="0">
              <a:buNone/>
            </a:pPr>
            <a:r>
              <a:rPr lang="en-US" sz="2700" b="1" dirty="0">
                <a:solidFill>
                  <a:srgbClr val="0B1F33"/>
                </a:solidFill>
                <a:latin typeface="Aptos"/>
              </a:rPr>
              <a:t>Team communication plan</a:t>
            </a:r>
            <a:endParaRPr lang="en-US" sz="2400" dirty="0"/>
          </a:p>
        </p:txBody>
      </p:sp>
      <p:sp>
        <p:nvSpPr>
          <p:cNvPr id="3" name="Text 1"/>
          <p:cNvSpPr/>
          <p:nvPr/>
        </p:nvSpPr>
        <p:spPr>
          <a:xfrm>
            <a:off x="530352" y="667512"/>
            <a:ext cx="7772400" cy="228600"/>
          </a:xfrm>
          <a:prstGeom prst="rect">
            <a:avLst/>
          </a:prstGeom>
          <a:noFill/>
          <a:ln/>
        </p:spPr>
        <p:txBody>
          <a:bodyPr wrap="square" lIns="18288" tIns="9144" rIns="18288" bIns="9144" rtlCol="0" anchor="ctr"/>
          <a:lstStyle/>
          <a:p>
            <a:pPr marL="0" indent="0">
              <a:buNone/>
            </a:pPr>
            <a:r>
              <a:rPr lang="en-US" sz="1350" dirty="0" b="0">
                <a:solidFill>
                  <a:srgbClr val="607082"/>
                </a:solidFill>
                <a:latin typeface="Aptos"/>
              </a:rPr>
              <a:t>How we coordinated work and kept the project moving</a:t>
            </a:r>
            <a:endParaRPr lang="en-US" sz="1050" dirty="0"/>
          </a:p>
        </p:txBody>
      </p:sp>
      <p:sp>
        <p:nvSpPr>
          <p:cNvPr id="4" name="Text 2"/>
          <p:cNvSpPr/>
          <p:nvPr/>
        </p:nvSpPr>
        <p:spPr>
          <a:xfrm>
            <a:off x="9372600" y="310896"/>
            <a:ext cx="2057400" cy="256032"/>
          </a:xfrm>
          <a:prstGeom prst="rect">
            <a:avLst/>
          </a:prstGeom>
          <a:solidFill>
            <a:srgbClr val="008B9F"/>
          </a:solidFill>
          <a:ln>
            <a:noFill/>
          </a:ln>
        </p:spPr>
        <p:txBody>
          <a:bodyPr wrap="square" lIns="18288" tIns="9144" rIns="18288" bIns="9144" rtlCol="0" anchor="ctr"/>
          <a:lstStyle/>
          <a:p>
            <a:pPr marL="0" indent="0" algn="ctr">
              <a:buNone/>
            </a:pPr>
            <a:r>
              <a:rPr lang="en-US" sz="950" b="1" dirty="0">
                <a:solidFill>
                  <a:srgbClr val="FFFFFF"/>
                </a:solidFill>
                <a:latin typeface="Aptos"/>
              </a:rPr>
              <a:t>Task 1</a:t>
            </a:r>
            <a:endParaRPr lang="en-US" sz="850" dirty="0"/>
          </a:p>
        </p:txBody>
      </p:sp>
      <p:pic>
        <p:nvPicPr>
          <p:cNvPr id="5" name="Image 0" descr="/mnt/data/ppt_assets/page_009.png"/>
          <p:cNvPicPr>
            <a:picLocks noChangeAspect="1"/>
          </p:cNvPicPr>
          <p:nvPr/>
        </p:nvPicPr>
        <p:blipFill>
          <a:blip r:embed="rId3"/>
          <a:stretch>
            <a:fillRect/>
          </a:stretch>
        </p:blipFill>
        <p:spPr>
          <a:xfrm>
            <a:off x="7438052" y="1005840"/>
            <a:ext cx="3686216" cy="5212080"/>
          </a:xfrm>
          <a:prstGeom prst="rect">
            <a:avLst/>
          </a:prstGeom>
          <a:ln w="12700">
            <a:solidFill>
              <a:srgbClr val="D2DCE6"/>
            </a:solidFill>
          </a:ln>
        </p:spPr>
      </p:pic>
      <p:sp>
        <p:nvSpPr>
          <p:cNvPr id="6" name="Text 3"/>
          <p:cNvSpPr/>
          <p:nvPr/>
        </p:nvSpPr>
        <p:spPr>
          <a:xfrm>
            <a:off x="685800" y="1188720"/>
            <a:ext cx="5669280" cy="4297680"/>
          </a:xfrm>
          <a:prstGeom prst="rect">
            <a:avLst/>
          </a:prstGeom>
          <a:noFill/>
          <a:ln/>
        </p:spPr>
        <p:txBody>
          <a:bodyPr wrap="square" lIns="18288" tIns="9144" rIns="18288" bIns="9144" rtlCol="0" anchor="ctr">
            <a:normAutofit/>
          </a:bodyPr>
          <a:lstStyle/>
          <a:p>
            <a:r>
              <a:rPr lang="en-US" sz="1600" dirty="0" b="0">
                <a:solidFill>
                  <a:srgbClr val="233040"/>
                </a:solidFill>
                <a:latin typeface="Aptos"/>
              </a:rPr>
              <a:t>Weekly planning and progress check-ins</a:t>
            </a:r>
            <a:endParaRPr lang="en-US" sz="1600" dirty="0"/>
          </a:p>
          <a:p>
            <a:r>
              <a:rPr lang="en-US" sz="1600" dirty="0" b="0">
                <a:solidFill>
                  <a:srgbClr val="233040"/>
                </a:solidFill>
                <a:latin typeface="Aptos"/>
              </a:rPr>
              <a:t>Tasks split by AWS, Azure, Fortinet, testing and documentation</a:t>
            </a:r>
            <a:endParaRPr lang="en-US" sz="1600" dirty="0"/>
          </a:p>
          <a:p>
            <a:r>
              <a:rPr lang="en-US" sz="1600" dirty="0" b="0">
                <a:solidFill>
                  <a:srgbClr val="233040"/>
                </a:solidFill>
                <a:latin typeface="Aptos"/>
              </a:rPr>
              <a:t>Shared screenshots and documentation evidence for final reporting</a:t>
            </a:r>
            <a:endParaRPr lang="en-US" sz="1600" dirty="0"/>
          </a:p>
          <a:p>
            <a:r>
              <a:rPr lang="en-US" sz="1600" dirty="0" b="0">
                <a:solidFill>
                  <a:srgbClr val="233040"/>
                </a:solidFill>
                <a:latin typeface="Aptos"/>
              </a:rPr>
              <a:t>Issues escalated early so blockers did not stop the project</a:t>
            </a:r>
            <a:endParaRPr lang="en-US" sz="1600" dirty="0"/>
          </a:p>
        </p:txBody>
      </p:sp>
      <p:sp>
        <p:nvSpPr>
          <p:cNvPr id="9" name="Rectangle 8"/>
          <p:cNvSpPr/>
          <p:nvPr/>
        </p:nvSpPr>
        <p:spPr>
          <a:xfrm>
            <a:off x="502920" y="960120"/>
            <a:ext cx="10881360" cy="22860"/>
          </a:xfrm>
          <a:prstGeom prst="rect">
            <a:avLst/>
          </a:prstGeom>
          <a:solidFill>
            <a:srgbClr val="008B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565392"/>
            <a:ext cx="10972800" cy="164592"/>
          </a:xfrm>
          <a:prstGeom prst="rect">
            <a:avLst/>
          </a:prstGeom>
          <a:noFill/>
        </p:spPr>
        <p:txBody>
          <a:bodyPr wrap="none">
            <a:spAutoFit/>
          </a:bodyPr>
          <a:lstStyle/>
          <a:p>
            <a:pPr algn="l"/>
            <a:r>
              <a:rPr sz="750">
                <a:solidFill>
                  <a:srgbClr val="607082"/>
                </a:solidFill>
                <a:latin typeface="Aptos"/>
              </a:rPr>
              <a:t>CCC604 Assessment 8  |  Multi-Cloud Security Integration  |  6</a:t>
            </a:r>
          </a:p>
        </p:txBody>
      </p:sp>
      <p:sp>
        <p:nvSpPr>
          <p:cNvPr id="11" name="Oval 10"/>
          <p:cNvSpPr/>
          <p:nvPr/>
        </p:nvSpPr>
        <p:spPr>
          <a:xfrm>
            <a:off x="11292840" y="6537960"/>
            <a:ext cx="128016" cy="128016"/>
          </a:xfrm>
          <a:prstGeom prst="ellipse">
            <a:avLst/>
          </a:prstGeom>
          <a:solidFill>
            <a:srgbClr val="008B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46304" cy="6858000"/>
          </a:xfrm>
          <a:prstGeom prst="rect">
            <a:avLst/>
          </a:prstGeom>
          <a:solidFill>
            <a:srgbClr val="008B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0"/>
            <a:ext cx="12192000"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 0"/>
          <p:cNvSpPr/>
          <p:nvPr/>
        </p:nvSpPr>
        <p:spPr>
          <a:xfrm>
            <a:off x="502920" y="201168"/>
            <a:ext cx="7680960" cy="411480"/>
          </a:xfrm>
          <a:prstGeom prst="rect">
            <a:avLst/>
          </a:prstGeom>
          <a:noFill/>
          <a:ln/>
        </p:spPr>
        <p:txBody>
          <a:bodyPr wrap="square" lIns="18288" tIns="9144" rIns="18288" bIns="9144" rtlCol="0" anchor="ctr"/>
          <a:lstStyle/>
          <a:p>
            <a:pPr marL="0" indent="0">
              <a:buNone/>
            </a:pPr>
            <a:r>
              <a:rPr lang="en-US" sz="2700" b="1" dirty="0">
                <a:solidFill>
                  <a:srgbClr val="0B1F33"/>
                </a:solidFill>
                <a:latin typeface="Aptos"/>
              </a:rPr>
              <a:t>Architecture overview</a:t>
            </a:r>
            <a:endParaRPr lang="en-US" sz="2400" dirty="0"/>
          </a:p>
        </p:txBody>
      </p:sp>
      <p:sp>
        <p:nvSpPr>
          <p:cNvPr id="3" name="Text 1"/>
          <p:cNvSpPr/>
          <p:nvPr/>
        </p:nvSpPr>
        <p:spPr>
          <a:xfrm>
            <a:off x="530352" y="667512"/>
            <a:ext cx="7772400" cy="228600"/>
          </a:xfrm>
          <a:prstGeom prst="rect">
            <a:avLst/>
          </a:prstGeom>
          <a:noFill/>
          <a:ln/>
        </p:spPr>
        <p:txBody>
          <a:bodyPr wrap="square" lIns="18288" tIns="9144" rIns="18288" bIns="9144" rtlCol="0" anchor="ctr"/>
          <a:lstStyle/>
          <a:p>
            <a:pPr marL="0" indent="0">
              <a:buNone/>
            </a:pPr>
            <a:r>
              <a:rPr lang="en-US" sz="1350" dirty="0" b="0">
                <a:solidFill>
                  <a:srgbClr val="607082"/>
                </a:solidFill>
                <a:latin typeface="Aptos"/>
              </a:rPr>
              <a:t>How AWS, Azure and Fortinet worked together</a:t>
            </a:r>
            <a:endParaRPr lang="en-US" sz="1050" dirty="0"/>
          </a:p>
        </p:txBody>
      </p:sp>
      <p:sp>
        <p:nvSpPr>
          <p:cNvPr id="4" name="Text 2"/>
          <p:cNvSpPr/>
          <p:nvPr/>
        </p:nvSpPr>
        <p:spPr>
          <a:xfrm>
            <a:off x="9372600" y="310896"/>
            <a:ext cx="2057400" cy="256032"/>
          </a:xfrm>
          <a:prstGeom prst="rect">
            <a:avLst/>
          </a:prstGeom>
          <a:solidFill>
            <a:srgbClr val="008B9F"/>
          </a:solidFill>
          <a:ln>
            <a:noFill/>
          </a:ln>
        </p:spPr>
        <p:txBody>
          <a:bodyPr wrap="square" lIns="18288" tIns="9144" rIns="18288" bIns="9144" rtlCol="0" anchor="ctr"/>
          <a:lstStyle/>
          <a:p>
            <a:pPr marL="0" indent="0" algn="ctr">
              <a:buNone/>
            </a:pPr>
            <a:r>
              <a:rPr lang="en-US" sz="950" b="1" dirty="0">
                <a:solidFill>
                  <a:srgbClr val="FFFFFF"/>
                </a:solidFill>
                <a:latin typeface="Aptos"/>
              </a:rPr>
              <a:t>Design</a:t>
            </a:r>
            <a:endParaRPr lang="en-US" sz="850" dirty="0"/>
          </a:p>
        </p:txBody>
      </p:sp>
      <p:pic>
        <p:nvPicPr>
          <p:cNvPr id="5" name="Image 0" descr="/mnt/data/ppt_assets/arch.png"/>
          <p:cNvPicPr>
            <a:picLocks noChangeAspect="1"/>
          </p:cNvPicPr>
          <p:nvPr/>
        </p:nvPicPr>
        <p:blipFill>
          <a:blip r:embed="rId3"/>
          <a:stretch>
            <a:fillRect/>
          </a:stretch>
        </p:blipFill>
        <p:spPr>
          <a:xfrm>
            <a:off x="4995028" y="1097280"/>
            <a:ext cx="5188984" cy="4983480"/>
          </a:xfrm>
          <a:prstGeom prst="rect">
            <a:avLst/>
          </a:prstGeom>
          <a:ln w="12700">
            <a:solidFill>
              <a:srgbClr val="D2DCE6"/>
            </a:solidFill>
          </a:ln>
        </p:spPr>
      </p:pic>
      <p:sp>
        <p:nvSpPr>
          <p:cNvPr id="8" name="Rectangle 7"/>
          <p:cNvSpPr/>
          <p:nvPr/>
        </p:nvSpPr>
        <p:spPr>
          <a:xfrm>
            <a:off x="502920" y="960120"/>
            <a:ext cx="10881360" cy="22860"/>
          </a:xfrm>
          <a:prstGeom prst="rect">
            <a:avLst/>
          </a:prstGeom>
          <a:solidFill>
            <a:srgbClr val="008B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565392"/>
            <a:ext cx="10972800" cy="164592"/>
          </a:xfrm>
          <a:prstGeom prst="rect">
            <a:avLst/>
          </a:prstGeom>
          <a:noFill/>
        </p:spPr>
        <p:txBody>
          <a:bodyPr wrap="none">
            <a:spAutoFit/>
          </a:bodyPr>
          <a:lstStyle/>
          <a:p>
            <a:pPr algn="l"/>
            <a:r>
              <a:rPr sz="750">
                <a:solidFill>
                  <a:srgbClr val="607082"/>
                </a:solidFill>
                <a:latin typeface="Aptos"/>
              </a:rPr>
              <a:t>CCC604 Assessment 8  |  Multi-Cloud Security Integration  |  7</a:t>
            </a:r>
          </a:p>
        </p:txBody>
      </p:sp>
      <p:sp>
        <p:nvSpPr>
          <p:cNvPr id="10" name="Oval 9"/>
          <p:cNvSpPr/>
          <p:nvPr/>
        </p:nvSpPr>
        <p:spPr>
          <a:xfrm>
            <a:off x="11292840" y="6537960"/>
            <a:ext cx="128016" cy="128016"/>
          </a:xfrm>
          <a:prstGeom prst="ellipse">
            <a:avLst/>
          </a:prstGeom>
          <a:solidFill>
            <a:srgbClr val="008B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146304" cy="6858000"/>
          </a:xfrm>
          <a:prstGeom prst="rect">
            <a:avLst/>
          </a:prstGeom>
          <a:solidFill>
            <a:srgbClr val="008B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0"/>
            <a:ext cx="12192000"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 0"/>
          <p:cNvSpPr/>
          <p:nvPr/>
        </p:nvSpPr>
        <p:spPr>
          <a:xfrm>
            <a:off x="502920" y="201168"/>
            <a:ext cx="7680960" cy="411480"/>
          </a:xfrm>
          <a:prstGeom prst="rect">
            <a:avLst/>
          </a:prstGeom>
          <a:noFill/>
          <a:ln/>
        </p:spPr>
        <p:txBody>
          <a:bodyPr wrap="square" lIns="18288" tIns="9144" rIns="18288" bIns="9144" rtlCol="0" anchor="ctr"/>
          <a:lstStyle/>
          <a:p>
            <a:pPr marL="0" indent="0">
              <a:buNone/>
            </a:pPr>
            <a:r>
              <a:rPr lang="en-US" sz="2700" b="1" dirty="0">
                <a:solidFill>
                  <a:srgbClr val="0B1F33"/>
                </a:solidFill>
                <a:latin typeface="Aptos"/>
              </a:rPr>
              <a:t>Security principles used in the design</a:t>
            </a:r>
            <a:endParaRPr lang="en-US" sz="2400" dirty="0"/>
          </a:p>
        </p:txBody>
      </p:sp>
      <p:sp>
        <p:nvSpPr>
          <p:cNvPr id="3" name="Text 1"/>
          <p:cNvSpPr/>
          <p:nvPr/>
        </p:nvSpPr>
        <p:spPr>
          <a:xfrm>
            <a:off x="530352" y="667512"/>
            <a:ext cx="7772400" cy="228600"/>
          </a:xfrm>
          <a:prstGeom prst="rect">
            <a:avLst/>
          </a:prstGeom>
          <a:noFill/>
          <a:ln/>
        </p:spPr>
        <p:txBody>
          <a:bodyPr wrap="square" lIns="18288" tIns="9144" rIns="18288" bIns="9144" rtlCol="0" anchor="ctr"/>
          <a:lstStyle/>
          <a:p>
            <a:pPr marL="0" indent="0">
              <a:buNone/>
            </a:pPr>
            <a:r>
              <a:rPr lang="en-US" sz="1350" dirty="0" b="0">
                <a:solidFill>
                  <a:srgbClr val="607082"/>
                </a:solidFill>
                <a:latin typeface="Aptos"/>
              </a:rPr>
              <a:t>Simple controls applied across the whole setup</a:t>
            </a:r>
            <a:endParaRPr lang="en-US" sz="1050" dirty="0"/>
          </a:p>
        </p:txBody>
      </p:sp>
      <p:sp>
        <p:nvSpPr>
          <p:cNvPr id="4" name="Text 2"/>
          <p:cNvSpPr/>
          <p:nvPr/>
        </p:nvSpPr>
        <p:spPr>
          <a:xfrm>
            <a:off x="9372600" y="310896"/>
            <a:ext cx="2057400" cy="256032"/>
          </a:xfrm>
          <a:prstGeom prst="rect">
            <a:avLst/>
          </a:prstGeom>
          <a:solidFill>
            <a:srgbClr val="008B9F"/>
          </a:solidFill>
          <a:ln>
            <a:noFill/>
          </a:ln>
        </p:spPr>
        <p:txBody>
          <a:bodyPr wrap="square" lIns="18288" tIns="9144" rIns="18288" bIns="9144" rtlCol="0" anchor="ctr"/>
          <a:lstStyle/>
          <a:p>
            <a:pPr marL="0" indent="0" algn="ctr">
              <a:buNone/>
            </a:pPr>
            <a:r>
              <a:rPr lang="en-US" sz="950" b="1" dirty="0">
                <a:solidFill>
                  <a:srgbClr val="FFFFFF"/>
                </a:solidFill>
                <a:latin typeface="Aptos"/>
              </a:rPr>
              <a:t>Security design</a:t>
            </a:r>
            <a:endParaRPr lang="en-US" sz="850" dirty="0"/>
          </a:p>
        </p:txBody>
      </p:sp>
      <p:sp>
        <p:nvSpPr>
          <p:cNvPr id="5" name="Text 3"/>
          <p:cNvSpPr/>
          <p:nvPr/>
        </p:nvSpPr>
        <p:spPr>
          <a:xfrm>
            <a:off x="868680" y="1005840"/>
            <a:ext cx="6492240" cy="4937760"/>
          </a:xfrm>
          <a:prstGeom prst="rect">
            <a:avLst/>
          </a:prstGeom>
          <a:noFill/>
          <a:ln/>
        </p:spPr>
        <p:txBody>
          <a:bodyPr wrap="square" lIns="18288" tIns="9144" rIns="18288" bIns="9144" rtlCol="0" anchor="ctr">
            <a:normAutofit/>
          </a:bodyPr>
          <a:lstStyle/>
          <a:p>
            <a:r>
              <a:rPr lang="en-US" sz="1600" dirty="0" b="0">
                <a:solidFill>
                  <a:srgbClr val="233040"/>
                </a:solidFill>
                <a:latin typeface="Aptos"/>
              </a:rPr>
              <a:t>Separate public-facing services from internal resources</a:t>
            </a:r>
            <a:endParaRPr lang="en-US" sz="1700" dirty="0"/>
          </a:p>
          <a:p>
            <a:r>
              <a:rPr lang="en-US" sz="1600" dirty="0" b="0">
                <a:solidFill>
                  <a:srgbClr val="233040"/>
                </a:solidFill>
                <a:latin typeface="Aptos"/>
              </a:rPr>
              <a:t>Use IAM roles and RBAC/MFA instead of shared administrator access</a:t>
            </a:r>
            <a:endParaRPr lang="en-US" sz="1700" dirty="0"/>
          </a:p>
          <a:p>
            <a:r>
              <a:rPr lang="en-US" sz="1600" dirty="0" b="0">
                <a:solidFill>
                  <a:srgbClr val="233040"/>
                </a:solidFill>
                <a:latin typeface="Aptos"/>
              </a:rPr>
              <a:t>Restrict management access through VPN or approved paths</a:t>
            </a:r>
            <a:endParaRPr lang="en-US" sz="1700" dirty="0"/>
          </a:p>
          <a:p>
            <a:r>
              <a:rPr lang="en-US" sz="1600" dirty="0" b="0">
                <a:solidFill>
                  <a:srgbClr val="233040"/>
                </a:solidFill>
                <a:latin typeface="Aptos"/>
              </a:rPr>
              <a:t>Enable encryption for storage and HTTPS for web access</a:t>
            </a:r>
            <a:endParaRPr lang="en-US" sz="1700" dirty="0"/>
          </a:p>
          <a:p>
            <a:r>
              <a:rPr lang="en-US" sz="1600" dirty="0" b="0">
                <a:solidFill>
                  <a:srgbClr val="233040"/>
                </a:solidFill>
                <a:latin typeface="Aptos"/>
              </a:rPr>
              <a:t>Use monitoring, logs and alerts to support troubleshooting</a:t>
            </a:r>
            <a:endParaRPr lang="en-US" sz="1700" dirty="0"/>
          </a:p>
          <a:p>
            <a:r>
              <a:rPr lang="en-US" sz="1600" dirty="0" b="0">
                <a:solidFill>
                  <a:srgbClr val="233040"/>
                </a:solidFill>
                <a:latin typeface="Aptos"/>
              </a:rPr>
              <a:t>Use backup and snapshots for recovery from mistakes or failures</a:t>
            </a:r>
            <a:endParaRPr lang="en-US" sz="1700" dirty="0"/>
          </a:p>
        </p:txBody>
      </p:sp>
      <p:pic>
        <p:nvPicPr>
          <p:cNvPr id="6" name="Image 0" descr="/mnt/data/ppt_assets/page_020.png"/>
          <p:cNvPicPr>
            <a:picLocks noChangeAspect="1"/>
          </p:cNvPicPr>
          <p:nvPr/>
        </p:nvPicPr>
        <p:blipFill>
          <a:blip r:embed="rId3"/>
          <a:stretch>
            <a:fillRect/>
          </a:stretch>
        </p:blipFill>
        <p:spPr>
          <a:xfrm>
            <a:off x="7911949" y="1143000"/>
            <a:ext cx="3104182" cy="4389120"/>
          </a:xfrm>
          <a:prstGeom prst="rect">
            <a:avLst/>
          </a:prstGeom>
          <a:ln w="12700">
            <a:solidFill>
              <a:srgbClr val="D2DCE6"/>
            </a:solidFill>
          </a:ln>
        </p:spPr>
      </p:pic>
      <p:sp>
        <p:nvSpPr>
          <p:cNvPr id="9" name="Rectangle 8"/>
          <p:cNvSpPr/>
          <p:nvPr/>
        </p:nvSpPr>
        <p:spPr>
          <a:xfrm>
            <a:off x="502920" y="960120"/>
            <a:ext cx="10881360" cy="22860"/>
          </a:xfrm>
          <a:prstGeom prst="rect">
            <a:avLst/>
          </a:prstGeom>
          <a:solidFill>
            <a:srgbClr val="008B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565392"/>
            <a:ext cx="10972800" cy="164592"/>
          </a:xfrm>
          <a:prstGeom prst="rect">
            <a:avLst/>
          </a:prstGeom>
          <a:noFill/>
        </p:spPr>
        <p:txBody>
          <a:bodyPr wrap="none">
            <a:spAutoFit/>
          </a:bodyPr>
          <a:lstStyle/>
          <a:p>
            <a:pPr algn="l"/>
            <a:r>
              <a:rPr sz="750">
                <a:solidFill>
                  <a:srgbClr val="607082"/>
                </a:solidFill>
                <a:latin typeface="Aptos"/>
              </a:rPr>
              <a:t>CCC604 Assessment 8  |  Multi-Cloud Security Integration  |  8</a:t>
            </a:r>
          </a:p>
        </p:txBody>
      </p:sp>
      <p:sp>
        <p:nvSpPr>
          <p:cNvPr id="11" name="Oval 10"/>
          <p:cNvSpPr/>
          <p:nvPr/>
        </p:nvSpPr>
        <p:spPr>
          <a:xfrm>
            <a:off x="11292840" y="6537960"/>
            <a:ext cx="128016" cy="128016"/>
          </a:xfrm>
          <a:prstGeom prst="ellipse">
            <a:avLst/>
          </a:prstGeom>
          <a:solidFill>
            <a:srgbClr val="008B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146304" cy="6858000"/>
          </a:xfrm>
          <a:prstGeom prst="rect">
            <a:avLst/>
          </a:prstGeom>
          <a:solidFill>
            <a:srgbClr val="EE89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0"/>
            <a:ext cx="12192000"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 0"/>
          <p:cNvSpPr/>
          <p:nvPr/>
        </p:nvSpPr>
        <p:spPr>
          <a:xfrm>
            <a:off x="502920" y="201168"/>
            <a:ext cx="7680960" cy="411480"/>
          </a:xfrm>
          <a:prstGeom prst="rect">
            <a:avLst/>
          </a:prstGeom>
          <a:noFill/>
          <a:ln/>
        </p:spPr>
        <p:txBody>
          <a:bodyPr wrap="square" lIns="18288" tIns="9144" rIns="18288" bIns="9144" rtlCol="0" anchor="ctr"/>
          <a:lstStyle/>
          <a:p>
            <a:pPr marL="0" indent="0">
              <a:buNone/>
            </a:pPr>
            <a:r>
              <a:rPr lang="en-US" sz="2700" b="1" dirty="0">
                <a:solidFill>
                  <a:srgbClr val="0B1F33"/>
                </a:solidFill>
                <a:latin typeface="Aptos"/>
              </a:rPr>
              <a:t>AWS network foundation</a:t>
            </a:r>
            <a:endParaRPr lang="en-US" sz="2400" dirty="0"/>
          </a:p>
        </p:txBody>
      </p:sp>
      <p:sp>
        <p:nvSpPr>
          <p:cNvPr id="3" name="Text 1"/>
          <p:cNvSpPr/>
          <p:nvPr/>
        </p:nvSpPr>
        <p:spPr>
          <a:xfrm>
            <a:off x="530352" y="667512"/>
            <a:ext cx="7772400" cy="228600"/>
          </a:xfrm>
          <a:prstGeom prst="rect">
            <a:avLst/>
          </a:prstGeom>
          <a:noFill/>
          <a:ln/>
        </p:spPr>
        <p:txBody>
          <a:bodyPr wrap="square" lIns="18288" tIns="9144" rIns="18288" bIns="9144" rtlCol="0" anchor="ctr"/>
          <a:lstStyle/>
          <a:p>
            <a:pPr marL="0" indent="0">
              <a:buNone/>
            </a:pPr>
            <a:r>
              <a:rPr lang="en-US" sz="1350" dirty="0" b="0">
                <a:solidFill>
                  <a:srgbClr val="607082"/>
                </a:solidFill>
                <a:latin typeface="Aptos"/>
              </a:rPr>
              <a:t>VPC, subnets, route tables, Internet Gateway and NAT Gateway</a:t>
            </a:r>
            <a:endParaRPr lang="en-US" sz="1050" dirty="0"/>
          </a:p>
        </p:txBody>
      </p:sp>
      <p:sp>
        <p:nvSpPr>
          <p:cNvPr id="4" name="Text 2"/>
          <p:cNvSpPr/>
          <p:nvPr/>
        </p:nvSpPr>
        <p:spPr>
          <a:xfrm>
            <a:off x="9372600" y="310896"/>
            <a:ext cx="2057400" cy="256032"/>
          </a:xfrm>
          <a:prstGeom prst="rect">
            <a:avLst/>
          </a:prstGeom>
          <a:solidFill>
            <a:srgbClr val="EE8925"/>
          </a:solidFill>
          <a:ln>
            <a:noFill/>
          </a:ln>
        </p:spPr>
        <p:txBody>
          <a:bodyPr wrap="square" lIns="18288" tIns="9144" rIns="18288" bIns="9144" rtlCol="0" anchor="ctr"/>
          <a:lstStyle/>
          <a:p>
            <a:pPr marL="0" indent="0" algn="ctr">
              <a:buNone/>
            </a:pPr>
            <a:r>
              <a:rPr lang="en-US" sz="950" b="1" dirty="0">
                <a:solidFill>
                  <a:srgbClr val="FFFFFF"/>
                </a:solidFill>
                <a:latin typeface="Aptos"/>
              </a:rPr>
              <a:t>AWS implementation</a:t>
            </a:r>
            <a:endParaRPr lang="en-US" sz="850" dirty="0"/>
          </a:p>
        </p:txBody>
      </p:sp>
      <p:pic>
        <p:nvPicPr>
          <p:cNvPr id="5" name="Image 0" descr="/mnt/data/ppt_assets/vpc.png"/>
          <p:cNvPicPr>
            <a:picLocks noChangeAspect="1"/>
          </p:cNvPicPr>
          <p:nvPr/>
        </p:nvPicPr>
        <p:blipFill>
          <a:blip r:embed="rId3"/>
          <a:stretch>
            <a:fillRect/>
          </a:stretch>
        </p:blipFill>
        <p:spPr>
          <a:xfrm>
            <a:off x="6492240" y="2311956"/>
            <a:ext cx="4846320" cy="2599849"/>
          </a:xfrm>
          <a:prstGeom prst="rect">
            <a:avLst/>
          </a:prstGeom>
          <a:ln w="12700">
            <a:solidFill>
              <a:srgbClr val="D2DCE6"/>
            </a:solidFill>
          </a:ln>
        </p:spPr>
      </p:pic>
      <p:sp>
        <p:nvSpPr>
          <p:cNvPr id="6" name="Text 3"/>
          <p:cNvSpPr/>
          <p:nvPr/>
        </p:nvSpPr>
        <p:spPr>
          <a:xfrm>
            <a:off x="685800" y="1143000"/>
            <a:ext cx="5303520" cy="4389120"/>
          </a:xfrm>
          <a:prstGeom prst="rect">
            <a:avLst/>
          </a:prstGeom>
          <a:noFill/>
          <a:ln/>
        </p:spPr>
        <p:txBody>
          <a:bodyPr wrap="square" lIns="18288" tIns="9144" rIns="18288" bIns="9144" rtlCol="0" anchor="ctr">
            <a:normAutofit/>
          </a:bodyPr>
          <a:lstStyle/>
          <a:p>
            <a:r>
              <a:rPr lang="en-US" sz="1600" dirty="0" b="0">
                <a:solidFill>
                  <a:srgbClr val="233040"/>
                </a:solidFill>
                <a:latin typeface="Aptos"/>
              </a:rPr>
              <a:t>Dedicated VPC created for the assessment resources</a:t>
            </a:r>
            <a:endParaRPr lang="en-US" sz="1580" dirty="0"/>
          </a:p>
          <a:p>
            <a:r>
              <a:rPr lang="en-US" sz="1600" dirty="0" b="0">
                <a:solidFill>
                  <a:srgbClr val="233040"/>
                </a:solidFill>
                <a:latin typeface="Aptos"/>
              </a:rPr>
              <a:t>Public subnets for internet-facing components</a:t>
            </a:r>
            <a:endParaRPr lang="en-US" sz="1580" dirty="0"/>
          </a:p>
          <a:p>
            <a:r>
              <a:rPr lang="en-US" sz="1600" dirty="0" b="0">
                <a:solidFill>
                  <a:srgbClr val="233040"/>
                </a:solidFill>
                <a:latin typeface="Aptos"/>
              </a:rPr>
              <a:t>Private subnets for internal application/database resources</a:t>
            </a:r>
            <a:endParaRPr lang="en-US" sz="1580" dirty="0"/>
          </a:p>
          <a:p>
            <a:r>
              <a:rPr lang="en-US" sz="1600" dirty="0" b="0">
                <a:solidFill>
                  <a:srgbClr val="233040"/>
                </a:solidFill>
                <a:latin typeface="Aptos"/>
              </a:rPr>
              <a:t>NAT Gateway used for outbound access without direct inbound exposure</a:t>
            </a:r>
            <a:endParaRPr lang="en-US" sz="1580" dirty="0"/>
          </a:p>
          <a:p>
            <a:r>
              <a:rPr lang="en-US" sz="1600" dirty="0" b="0">
                <a:solidFill>
                  <a:srgbClr val="233040"/>
                </a:solidFill>
                <a:latin typeface="Aptos"/>
              </a:rPr>
              <a:t>NACL reviewed; Security Groups used for detailed access control</a:t>
            </a:r>
            <a:endParaRPr lang="en-US" sz="1580" dirty="0"/>
          </a:p>
        </p:txBody>
      </p:sp>
      <p:sp>
        <p:nvSpPr>
          <p:cNvPr id="9" name="Rectangle 8"/>
          <p:cNvSpPr/>
          <p:nvPr/>
        </p:nvSpPr>
        <p:spPr>
          <a:xfrm>
            <a:off x="502920" y="960120"/>
            <a:ext cx="10881360" cy="22860"/>
          </a:xfrm>
          <a:prstGeom prst="rect">
            <a:avLst/>
          </a:prstGeom>
          <a:solidFill>
            <a:srgbClr val="EE89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565392"/>
            <a:ext cx="10972800" cy="164592"/>
          </a:xfrm>
          <a:prstGeom prst="rect">
            <a:avLst/>
          </a:prstGeom>
          <a:noFill/>
        </p:spPr>
        <p:txBody>
          <a:bodyPr wrap="none">
            <a:spAutoFit/>
          </a:bodyPr>
          <a:lstStyle/>
          <a:p>
            <a:pPr algn="l"/>
            <a:r>
              <a:rPr sz="750">
                <a:solidFill>
                  <a:srgbClr val="607082"/>
                </a:solidFill>
                <a:latin typeface="Aptos"/>
              </a:rPr>
              <a:t>CCC604 Assessment 8  |  Multi-Cloud Security Integration  |  9</a:t>
            </a:r>
          </a:p>
        </p:txBody>
      </p:sp>
      <p:sp>
        <p:nvSpPr>
          <p:cNvPr id="11" name="Oval 10"/>
          <p:cNvSpPr/>
          <p:nvPr/>
        </p:nvSpPr>
        <p:spPr>
          <a:xfrm>
            <a:off x="11292840" y="6537960"/>
            <a:ext cx="128016" cy="128016"/>
          </a:xfrm>
          <a:prstGeom prst="ellipse">
            <a:avLst/>
          </a:prstGeom>
          <a:solidFill>
            <a:srgbClr val="EE89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1005840"/>
            <a:ext cx="1097280" cy="45720"/>
          </a:xfrm>
          <a:prstGeom prst="rect">
            <a:avLst/>
          </a:prstGeom>
          <a:solidFill>
            <a:srgbClr val="EE89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146304" cy="6858000"/>
          </a:xfrm>
          <a:prstGeom prst="rect">
            <a:avLst/>
          </a:prstGeom>
          <a:solidFill>
            <a:srgbClr val="EE89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0"/>
            <a:ext cx="12192000"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 0"/>
          <p:cNvSpPr/>
          <p:nvPr/>
        </p:nvSpPr>
        <p:spPr>
          <a:xfrm>
            <a:off x="502920" y="201168"/>
            <a:ext cx="7680960" cy="411480"/>
          </a:xfrm>
          <a:prstGeom prst="rect">
            <a:avLst/>
          </a:prstGeom>
          <a:noFill/>
          <a:ln/>
        </p:spPr>
        <p:txBody>
          <a:bodyPr wrap="square" lIns="18288" tIns="9144" rIns="18288" bIns="9144" rtlCol="0" anchor="ctr"/>
          <a:lstStyle/>
          <a:p>
            <a:pPr marL="0" indent="0">
              <a:buNone/>
            </a:pPr>
            <a:r>
              <a:rPr lang="en-US" sz="2700" b="1" dirty="0">
                <a:solidFill>
                  <a:srgbClr val="0B1F33"/>
                </a:solidFill>
                <a:latin typeface="Aptos"/>
              </a:rPr>
              <a:t>AWS access control</a:t>
            </a:r>
            <a:endParaRPr lang="en-US" sz="2400" dirty="0"/>
          </a:p>
        </p:txBody>
      </p:sp>
      <p:sp>
        <p:nvSpPr>
          <p:cNvPr id="3" name="Text 1"/>
          <p:cNvSpPr/>
          <p:nvPr/>
        </p:nvSpPr>
        <p:spPr>
          <a:xfrm>
            <a:off x="530352" y="667512"/>
            <a:ext cx="7772400" cy="228600"/>
          </a:xfrm>
          <a:prstGeom prst="rect">
            <a:avLst/>
          </a:prstGeom>
          <a:noFill/>
          <a:ln/>
        </p:spPr>
        <p:txBody>
          <a:bodyPr wrap="square" lIns="18288" tIns="9144" rIns="18288" bIns="9144" rtlCol="0" anchor="ctr"/>
          <a:lstStyle/>
          <a:p>
            <a:pPr marL="0" indent="0">
              <a:buNone/>
            </a:pPr>
            <a:r>
              <a:rPr lang="en-US" sz="1350" dirty="0" b="0">
                <a:solidFill>
                  <a:srgbClr val="607082"/>
                </a:solidFill>
                <a:latin typeface="Aptos"/>
              </a:rPr>
              <a:t>Security Groups and IAM roles were the main AWS controls</a:t>
            </a:r>
            <a:endParaRPr lang="en-US" sz="1050" dirty="0"/>
          </a:p>
        </p:txBody>
      </p:sp>
      <p:sp>
        <p:nvSpPr>
          <p:cNvPr id="4" name="Text 2"/>
          <p:cNvSpPr/>
          <p:nvPr/>
        </p:nvSpPr>
        <p:spPr>
          <a:xfrm>
            <a:off x="9372600" y="310896"/>
            <a:ext cx="2057400" cy="256032"/>
          </a:xfrm>
          <a:prstGeom prst="rect">
            <a:avLst/>
          </a:prstGeom>
          <a:solidFill>
            <a:srgbClr val="EE8925"/>
          </a:solidFill>
          <a:ln>
            <a:noFill/>
          </a:ln>
        </p:spPr>
        <p:txBody>
          <a:bodyPr wrap="square" lIns="18288" tIns="9144" rIns="18288" bIns="9144" rtlCol="0" anchor="ctr"/>
          <a:lstStyle/>
          <a:p>
            <a:pPr marL="0" indent="0" algn="ctr">
              <a:buNone/>
            </a:pPr>
            <a:r>
              <a:rPr lang="en-US" sz="950" b="1" dirty="0">
                <a:solidFill>
                  <a:srgbClr val="FFFFFF"/>
                </a:solidFill>
                <a:latin typeface="Aptos"/>
              </a:rPr>
              <a:t>AWS security</a:t>
            </a:r>
            <a:endParaRPr lang="en-US" sz="850" dirty="0"/>
          </a:p>
        </p:txBody>
      </p:sp>
      <p:pic>
        <p:nvPicPr>
          <p:cNvPr id="5" name="Image 0" descr="/mnt/data/ppt_assets/sg.png"/>
          <p:cNvPicPr>
            <a:picLocks noChangeAspect="1"/>
          </p:cNvPicPr>
          <p:nvPr/>
        </p:nvPicPr>
        <p:blipFill>
          <a:blip r:embed="rId3"/>
          <a:stretch>
            <a:fillRect/>
          </a:stretch>
        </p:blipFill>
        <p:spPr>
          <a:xfrm>
            <a:off x="6858000" y="1471918"/>
            <a:ext cx="4389120" cy="4005605"/>
          </a:xfrm>
          <a:prstGeom prst="rect">
            <a:avLst/>
          </a:prstGeom>
          <a:ln w="12700">
            <a:solidFill>
              <a:srgbClr val="D2DCE6"/>
            </a:solidFill>
          </a:ln>
        </p:spPr>
      </p:pic>
      <p:sp>
        <p:nvSpPr>
          <p:cNvPr id="6" name="Text 3"/>
          <p:cNvSpPr/>
          <p:nvPr/>
        </p:nvSpPr>
        <p:spPr>
          <a:xfrm>
            <a:off x="685800" y="1097280"/>
            <a:ext cx="5669280" cy="4480560"/>
          </a:xfrm>
          <a:prstGeom prst="rect">
            <a:avLst/>
          </a:prstGeom>
          <a:noFill/>
          <a:ln/>
        </p:spPr>
        <p:txBody>
          <a:bodyPr wrap="square" lIns="18288" tIns="9144" rIns="18288" bIns="9144" rtlCol="0" anchor="ctr">
            <a:normAutofit/>
          </a:bodyPr>
          <a:lstStyle/>
          <a:p>
            <a:r>
              <a:rPr lang="en-US" sz="1600" dirty="0" b="0">
                <a:solidFill>
                  <a:srgbClr val="233040"/>
                </a:solidFill>
                <a:latin typeface="Aptos"/>
              </a:rPr>
              <a:t>Separate Security Groups for Load Balancer, EC2, RDS, VPN and FortiGate</a:t>
            </a:r>
            <a:endParaRPr lang="en-US" sz="1550" dirty="0"/>
          </a:p>
          <a:p>
            <a:r>
              <a:rPr lang="en-US" sz="1600" dirty="0" b="0">
                <a:solidFill>
                  <a:srgbClr val="233040"/>
                </a:solidFill>
                <a:latin typeface="Aptos"/>
              </a:rPr>
              <a:t>Load Balancer allowed HTTP/HTTPS as the public entry point</a:t>
            </a:r>
            <a:endParaRPr lang="en-US" sz="1550" dirty="0"/>
          </a:p>
          <a:p>
            <a:r>
              <a:rPr lang="en-US" sz="1600" dirty="0" b="0">
                <a:solidFill>
                  <a:srgbClr val="233040"/>
                </a:solidFill>
                <a:latin typeface="Aptos"/>
              </a:rPr>
              <a:t>RDS access restricted to application-side access only</a:t>
            </a:r>
            <a:endParaRPr lang="en-US" sz="1550" dirty="0"/>
          </a:p>
          <a:p>
            <a:r>
              <a:rPr lang="en-US" sz="1600" dirty="0" b="0">
                <a:solidFill>
                  <a:srgbClr val="233040"/>
                </a:solidFill>
                <a:latin typeface="Aptos"/>
              </a:rPr>
              <a:t>IAM roles used instead of long-term access keys</a:t>
            </a:r>
            <a:endParaRPr lang="en-US" sz="1550" dirty="0"/>
          </a:p>
          <a:p>
            <a:r>
              <a:rPr lang="en-US" sz="1600" dirty="0" b="0">
                <a:solidFill>
                  <a:srgbClr val="233040"/>
                </a:solidFill>
                <a:latin typeface="Aptos"/>
              </a:rPr>
              <a:t>EC2 and Lambda roles supported controlled S3 and snapshot access</a:t>
            </a:r>
            <a:endParaRPr lang="en-US" sz="1550" dirty="0"/>
          </a:p>
        </p:txBody>
      </p:sp>
      <p:sp>
        <p:nvSpPr>
          <p:cNvPr id="9" name="Rectangle 8"/>
          <p:cNvSpPr/>
          <p:nvPr/>
        </p:nvSpPr>
        <p:spPr>
          <a:xfrm>
            <a:off x="502920" y="960120"/>
            <a:ext cx="10881360" cy="22860"/>
          </a:xfrm>
          <a:prstGeom prst="rect">
            <a:avLst/>
          </a:prstGeom>
          <a:solidFill>
            <a:srgbClr val="EE89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565392"/>
            <a:ext cx="10972800" cy="164592"/>
          </a:xfrm>
          <a:prstGeom prst="rect">
            <a:avLst/>
          </a:prstGeom>
          <a:noFill/>
        </p:spPr>
        <p:txBody>
          <a:bodyPr wrap="none">
            <a:spAutoFit/>
          </a:bodyPr>
          <a:lstStyle/>
          <a:p>
            <a:pPr algn="l"/>
            <a:r>
              <a:rPr sz="750">
                <a:solidFill>
                  <a:srgbClr val="607082"/>
                </a:solidFill>
                <a:latin typeface="Aptos"/>
              </a:rPr>
              <a:t>CCC604 Assessment 8  |  Multi-Cloud Security Integration  |  10</a:t>
            </a:r>
          </a:p>
        </p:txBody>
      </p:sp>
      <p:sp>
        <p:nvSpPr>
          <p:cNvPr id="11" name="Oval 10"/>
          <p:cNvSpPr/>
          <p:nvPr/>
        </p:nvSpPr>
        <p:spPr>
          <a:xfrm>
            <a:off x="11292840" y="6537960"/>
            <a:ext cx="128016" cy="128016"/>
          </a:xfrm>
          <a:prstGeom prst="ellipse">
            <a:avLst/>
          </a:prstGeom>
          <a:solidFill>
            <a:srgbClr val="EE89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146304" cy="6858000"/>
          </a:xfrm>
          <a:prstGeom prst="rect">
            <a:avLst/>
          </a:prstGeom>
          <a:solidFill>
            <a:srgbClr val="EE89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0"/>
            <a:ext cx="12192000"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 0"/>
          <p:cNvSpPr/>
          <p:nvPr/>
        </p:nvSpPr>
        <p:spPr>
          <a:xfrm>
            <a:off x="502920" y="201168"/>
            <a:ext cx="7680960" cy="411480"/>
          </a:xfrm>
          <a:prstGeom prst="rect">
            <a:avLst/>
          </a:prstGeom>
          <a:noFill/>
          <a:ln/>
        </p:spPr>
        <p:txBody>
          <a:bodyPr wrap="square" lIns="18288" tIns="9144" rIns="18288" bIns="9144" rtlCol="0" anchor="ctr"/>
          <a:lstStyle/>
          <a:p>
            <a:pPr marL="0" indent="0">
              <a:buNone/>
            </a:pPr>
            <a:r>
              <a:rPr lang="en-US" sz="2700" b="1" dirty="0">
                <a:solidFill>
                  <a:srgbClr val="0B1F33"/>
                </a:solidFill>
                <a:latin typeface="Aptos"/>
              </a:rPr>
              <a:t>Data protection and recovery</a:t>
            </a:r>
            <a:endParaRPr lang="en-US" sz="2400" dirty="0"/>
          </a:p>
        </p:txBody>
      </p:sp>
      <p:sp>
        <p:nvSpPr>
          <p:cNvPr id="3" name="Text 1"/>
          <p:cNvSpPr/>
          <p:nvPr/>
        </p:nvSpPr>
        <p:spPr>
          <a:xfrm>
            <a:off x="530352" y="667512"/>
            <a:ext cx="7772400" cy="228600"/>
          </a:xfrm>
          <a:prstGeom prst="rect">
            <a:avLst/>
          </a:prstGeom>
          <a:noFill/>
          <a:ln/>
        </p:spPr>
        <p:txBody>
          <a:bodyPr wrap="square" lIns="18288" tIns="9144" rIns="18288" bIns="9144" rtlCol="0" anchor="ctr"/>
          <a:lstStyle/>
          <a:p>
            <a:pPr marL="0" indent="0">
              <a:buNone/>
            </a:pPr>
            <a:r>
              <a:rPr lang="en-US" sz="1350" dirty="0" b="0">
                <a:solidFill>
                  <a:srgbClr val="607082"/>
                </a:solidFill>
                <a:latin typeface="Aptos"/>
              </a:rPr>
              <a:t>RDS, S3, KMS encryption and snapshots</a:t>
            </a:r>
            <a:endParaRPr lang="en-US" sz="1050" dirty="0"/>
          </a:p>
        </p:txBody>
      </p:sp>
      <p:sp>
        <p:nvSpPr>
          <p:cNvPr id="4" name="Text 2"/>
          <p:cNvSpPr/>
          <p:nvPr/>
        </p:nvSpPr>
        <p:spPr>
          <a:xfrm>
            <a:off x="9372600" y="310896"/>
            <a:ext cx="2057400" cy="256032"/>
          </a:xfrm>
          <a:prstGeom prst="rect">
            <a:avLst/>
          </a:prstGeom>
          <a:solidFill>
            <a:srgbClr val="EE8925"/>
          </a:solidFill>
          <a:ln>
            <a:noFill/>
          </a:ln>
        </p:spPr>
        <p:txBody>
          <a:bodyPr wrap="square" lIns="18288" tIns="9144" rIns="18288" bIns="9144" rtlCol="0" anchor="ctr"/>
          <a:lstStyle/>
          <a:p>
            <a:pPr marL="0" indent="0" algn="ctr">
              <a:buNone/>
            </a:pPr>
            <a:r>
              <a:rPr lang="en-US" sz="950" b="1" dirty="0">
                <a:solidFill>
                  <a:srgbClr val="FFFFFF"/>
                </a:solidFill>
                <a:latin typeface="Aptos"/>
              </a:rPr>
              <a:t>AWS security</a:t>
            </a:r>
            <a:endParaRPr lang="en-US" sz="850" dirty="0"/>
          </a:p>
        </p:txBody>
      </p:sp>
      <p:pic>
        <p:nvPicPr>
          <p:cNvPr id="5" name="Image 0" descr="/mnt/data/ppt_assets/data.png"/>
          <p:cNvPicPr>
            <a:picLocks noChangeAspect="1"/>
          </p:cNvPicPr>
          <p:nvPr/>
        </p:nvPicPr>
        <p:blipFill>
          <a:blip r:embed="rId3"/>
          <a:stretch>
            <a:fillRect/>
          </a:stretch>
        </p:blipFill>
        <p:spPr>
          <a:xfrm>
            <a:off x="6766560" y="1493520"/>
            <a:ext cx="4480560" cy="4053840"/>
          </a:xfrm>
          <a:prstGeom prst="rect">
            <a:avLst/>
          </a:prstGeom>
          <a:ln w="12700">
            <a:solidFill>
              <a:srgbClr val="D2DCE6"/>
            </a:solidFill>
          </a:ln>
        </p:spPr>
      </p:pic>
      <p:sp>
        <p:nvSpPr>
          <p:cNvPr id="6" name="Text 3"/>
          <p:cNvSpPr/>
          <p:nvPr/>
        </p:nvSpPr>
        <p:spPr>
          <a:xfrm>
            <a:off x="685800" y="1097280"/>
            <a:ext cx="5577840" cy="4389120"/>
          </a:xfrm>
          <a:prstGeom prst="rect">
            <a:avLst/>
          </a:prstGeom>
          <a:noFill/>
          <a:ln/>
        </p:spPr>
        <p:txBody>
          <a:bodyPr wrap="square" lIns="18288" tIns="9144" rIns="18288" bIns="9144" rtlCol="0" anchor="ctr">
            <a:normAutofit/>
          </a:bodyPr>
          <a:lstStyle/>
          <a:p>
            <a:r>
              <a:rPr lang="en-US" sz="1600" dirty="0" b="0">
                <a:solidFill>
                  <a:srgbClr val="233040"/>
                </a:solidFill>
                <a:latin typeface="Aptos"/>
              </a:rPr>
              <a:t>RDS used as the WordPress database back end</a:t>
            </a:r>
            <a:endParaRPr lang="en-US" sz="1600" dirty="0"/>
          </a:p>
          <a:p>
            <a:r>
              <a:rPr lang="en-US" sz="1600" dirty="0" b="0">
                <a:solidFill>
                  <a:srgbClr val="233040"/>
                </a:solidFill>
                <a:latin typeface="Aptos"/>
              </a:rPr>
              <a:t>Database kept private and controlled through Security Groups</a:t>
            </a:r>
            <a:endParaRPr lang="en-US" sz="1600" dirty="0"/>
          </a:p>
          <a:p>
            <a:r>
              <a:rPr lang="en-US" sz="1600" dirty="0" b="0">
                <a:solidFill>
                  <a:srgbClr val="233040"/>
                </a:solidFill>
                <a:latin typeface="Aptos"/>
              </a:rPr>
              <a:t>S3 bucket used for backup-related storage</a:t>
            </a:r>
            <a:endParaRPr lang="en-US" sz="1600" dirty="0"/>
          </a:p>
          <a:p>
            <a:r>
              <a:rPr lang="en-US" sz="1600" dirty="0" b="0">
                <a:solidFill>
                  <a:srgbClr val="233040"/>
                </a:solidFill>
                <a:latin typeface="Aptos"/>
              </a:rPr>
              <a:t>Server-side encryption enabled where possible</a:t>
            </a:r>
            <a:endParaRPr lang="en-US" sz="1600" dirty="0"/>
          </a:p>
          <a:p>
            <a:r>
              <a:rPr lang="en-US" sz="1600" dirty="0" b="0">
                <a:solidFill>
                  <a:srgbClr val="233040"/>
                </a:solidFill>
                <a:latin typeface="Aptos"/>
              </a:rPr>
              <a:t>Snapshots used as recovery points for misconfiguration or deletion</a:t>
            </a:r>
            <a:endParaRPr lang="en-US" sz="1600" dirty="0"/>
          </a:p>
        </p:txBody>
      </p:sp>
      <p:sp>
        <p:nvSpPr>
          <p:cNvPr id="9" name="Rectangle 8"/>
          <p:cNvSpPr/>
          <p:nvPr/>
        </p:nvSpPr>
        <p:spPr>
          <a:xfrm>
            <a:off x="502920" y="960120"/>
            <a:ext cx="10881360" cy="22860"/>
          </a:xfrm>
          <a:prstGeom prst="rect">
            <a:avLst/>
          </a:prstGeom>
          <a:solidFill>
            <a:srgbClr val="EE89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565392"/>
            <a:ext cx="10972800" cy="164592"/>
          </a:xfrm>
          <a:prstGeom prst="rect">
            <a:avLst/>
          </a:prstGeom>
          <a:noFill/>
        </p:spPr>
        <p:txBody>
          <a:bodyPr wrap="none">
            <a:spAutoFit/>
          </a:bodyPr>
          <a:lstStyle/>
          <a:p>
            <a:pPr algn="l"/>
            <a:r>
              <a:rPr sz="750">
                <a:solidFill>
                  <a:srgbClr val="607082"/>
                </a:solidFill>
                <a:latin typeface="Aptos"/>
              </a:rPr>
              <a:t>CCC604 Assessment 8  |  Multi-Cloud Security Integration  |  11</a:t>
            </a:r>
          </a:p>
        </p:txBody>
      </p:sp>
      <p:sp>
        <p:nvSpPr>
          <p:cNvPr id="11" name="Oval 10"/>
          <p:cNvSpPr/>
          <p:nvPr/>
        </p:nvSpPr>
        <p:spPr>
          <a:xfrm>
            <a:off x="11292840" y="6537960"/>
            <a:ext cx="128016" cy="128016"/>
          </a:xfrm>
          <a:prstGeom prst="ellipse">
            <a:avLst/>
          </a:prstGeom>
          <a:solidFill>
            <a:srgbClr val="EE89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146304" cy="6858000"/>
          </a:xfrm>
          <a:prstGeom prst="rect">
            <a:avLst/>
          </a:prstGeom>
          <a:solidFill>
            <a:srgbClr val="EE89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0"/>
            <a:ext cx="12192000"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 0"/>
          <p:cNvSpPr/>
          <p:nvPr/>
        </p:nvSpPr>
        <p:spPr>
          <a:xfrm>
            <a:off x="502920" y="201168"/>
            <a:ext cx="7680960" cy="411480"/>
          </a:xfrm>
          <a:prstGeom prst="rect">
            <a:avLst/>
          </a:prstGeom>
          <a:noFill/>
          <a:ln/>
        </p:spPr>
        <p:txBody>
          <a:bodyPr wrap="square" lIns="18288" tIns="9144" rIns="18288" bIns="9144" rtlCol="0" anchor="ctr"/>
          <a:lstStyle/>
          <a:p>
            <a:pPr marL="0" indent="0">
              <a:buNone/>
            </a:pPr>
            <a:r>
              <a:rPr lang="en-US" sz="2700" b="1" dirty="0">
                <a:solidFill>
                  <a:srgbClr val="0B1F33"/>
                </a:solidFill>
                <a:latin typeface="Aptos"/>
              </a:rPr>
              <a:t>High availability design</a:t>
            </a:r>
            <a:endParaRPr lang="en-US" sz="2400" dirty="0"/>
          </a:p>
        </p:txBody>
      </p:sp>
      <p:sp>
        <p:nvSpPr>
          <p:cNvPr id="3" name="Text 1"/>
          <p:cNvSpPr/>
          <p:nvPr/>
        </p:nvSpPr>
        <p:spPr>
          <a:xfrm>
            <a:off x="530352" y="667512"/>
            <a:ext cx="7772400" cy="228600"/>
          </a:xfrm>
          <a:prstGeom prst="rect">
            <a:avLst/>
          </a:prstGeom>
          <a:noFill/>
          <a:ln/>
        </p:spPr>
        <p:txBody>
          <a:bodyPr wrap="square" lIns="18288" tIns="9144" rIns="18288" bIns="9144" rtlCol="0" anchor="ctr"/>
          <a:lstStyle/>
          <a:p>
            <a:pPr marL="0" indent="0">
              <a:buNone/>
            </a:pPr>
            <a:r>
              <a:rPr lang="en-US" sz="1350" dirty="0" b="0">
                <a:solidFill>
                  <a:srgbClr val="607082"/>
                </a:solidFill>
                <a:latin typeface="Aptos"/>
              </a:rPr>
              <a:t>Application Load Balancer and Auto Scaling</a:t>
            </a:r>
            <a:endParaRPr lang="en-US" sz="1050" dirty="0"/>
          </a:p>
        </p:txBody>
      </p:sp>
      <p:sp>
        <p:nvSpPr>
          <p:cNvPr id="4" name="Text 2"/>
          <p:cNvSpPr/>
          <p:nvPr/>
        </p:nvSpPr>
        <p:spPr>
          <a:xfrm>
            <a:off x="9372600" y="310896"/>
            <a:ext cx="2057400" cy="256032"/>
          </a:xfrm>
          <a:prstGeom prst="rect">
            <a:avLst/>
          </a:prstGeom>
          <a:solidFill>
            <a:srgbClr val="EE8925"/>
          </a:solidFill>
          <a:ln>
            <a:noFill/>
          </a:ln>
        </p:spPr>
        <p:txBody>
          <a:bodyPr wrap="square" lIns="18288" tIns="9144" rIns="18288" bIns="9144" rtlCol="0" anchor="ctr"/>
          <a:lstStyle/>
          <a:p>
            <a:pPr marL="0" indent="0" algn="ctr">
              <a:buNone/>
            </a:pPr>
            <a:r>
              <a:rPr lang="en-US" sz="950" b="1" dirty="0">
                <a:solidFill>
                  <a:srgbClr val="FFFFFF"/>
                </a:solidFill>
                <a:latin typeface="Aptos"/>
              </a:rPr>
              <a:t>AWS implementation</a:t>
            </a:r>
            <a:endParaRPr lang="en-US" sz="850" dirty="0"/>
          </a:p>
        </p:txBody>
      </p:sp>
      <p:pic>
        <p:nvPicPr>
          <p:cNvPr id="5" name="Image 0" descr="/mnt/data/ppt_assets/ha.png"/>
          <p:cNvPicPr>
            <a:picLocks noChangeAspect="1"/>
          </p:cNvPicPr>
          <p:nvPr/>
        </p:nvPicPr>
        <p:blipFill>
          <a:blip r:embed="rId3"/>
          <a:stretch>
            <a:fillRect/>
          </a:stretch>
        </p:blipFill>
        <p:spPr>
          <a:xfrm>
            <a:off x="6492240" y="1346345"/>
            <a:ext cx="4754880" cy="4256750"/>
          </a:xfrm>
          <a:prstGeom prst="rect">
            <a:avLst/>
          </a:prstGeom>
          <a:ln w="12700">
            <a:solidFill>
              <a:srgbClr val="D2DCE6"/>
            </a:solidFill>
          </a:ln>
        </p:spPr>
      </p:pic>
      <p:sp>
        <p:nvSpPr>
          <p:cNvPr id="6" name="Text 3"/>
          <p:cNvSpPr/>
          <p:nvPr/>
        </p:nvSpPr>
        <p:spPr>
          <a:xfrm>
            <a:off x="685800" y="1143000"/>
            <a:ext cx="5486400" cy="4389120"/>
          </a:xfrm>
          <a:prstGeom prst="rect">
            <a:avLst/>
          </a:prstGeom>
          <a:noFill/>
          <a:ln/>
        </p:spPr>
        <p:txBody>
          <a:bodyPr wrap="square" lIns="18288" tIns="9144" rIns="18288" bIns="9144" rtlCol="0" anchor="ctr">
            <a:normAutofit/>
          </a:bodyPr>
          <a:lstStyle/>
          <a:p>
            <a:r>
              <a:rPr lang="en-US" sz="1600" dirty="0" b="0">
                <a:solidFill>
                  <a:srgbClr val="233040"/>
                </a:solidFill>
                <a:latin typeface="Aptos"/>
              </a:rPr>
              <a:t>Application Load Balancer provides a stable public entry point</a:t>
            </a:r>
            <a:endParaRPr lang="en-US" sz="1600" dirty="0"/>
          </a:p>
          <a:p>
            <a:r>
              <a:rPr lang="en-US" sz="1600" dirty="0" b="0">
                <a:solidFill>
                  <a:srgbClr val="233040"/>
                </a:solidFill>
                <a:latin typeface="Aptos"/>
              </a:rPr>
              <a:t>Target Group checks instance health before traffic is sent</a:t>
            </a:r>
            <a:endParaRPr lang="en-US" sz="1600" dirty="0"/>
          </a:p>
          <a:p>
            <a:r>
              <a:rPr lang="en-US" sz="1600" dirty="0" b="0">
                <a:solidFill>
                  <a:srgbClr val="233040"/>
                </a:solidFill>
                <a:latin typeface="Aptos"/>
              </a:rPr>
              <a:t>Auto Scaling Group can replace unhealthy instances</a:t>
            </a:r>
            <a:endParaRPr lang="en-US" sz="1600" dirty="0"/>
          </a:p>
          <a:p>
            <a:r>
              <a:rPr lang="en-US" sz="1600" dirty="0" b="0">
                <a:solidFill>
                  <a:srgbClr val="233040"/>
                </a:solidFill>
                <a:latin typeface="Aptos"/>
              </a:rPr>
              <a:t>Multiple subnets support a more resilient layout</a:t>
            </a:r>
            <a:endParaRPr lang="en-US" sz="1600" dirty="0"/>
          </a:p>
          <a:p>
            <a:r>
              <a:rPr lang="en-US" sz="1600" dirty="0" b="0">
                <a:solidFill>
                  <a:srgbClr val="233040"/>
                </a:solidFill>
                <a:latin typeface="Aptos"/>
              </a:rPr>
              <a:t>ACM/HTTPS protects public web access</a:t>
            </a:r>
            <a:endParaRPr lang="en-US" sz="1600" dirty="0"/>
          </a:p>
        </p:txBody>
      </p:sp>
      <p:sp>
        <p:nvSpPr>
          <p:cNvPr id="9" name="Rectangle 8"/>
          <p:cNvSpPr/>
          <p:nvPr/>
        </p:nvSpPr>
        <p:spPr>
          <a:xfrm>
            <a:off x="502920" y="960120"/>
            <a:ext cx="10881360" cy="22860"/>
          </a:xfrm>
          <a:prstGeom prst="rect">
            <a:avLst/>
          </a:prstGeom>
          <a:solidFill>
            <a:srgbClr val="EE89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565392"/>
            <a:ext cx="10972800" cy="164592"/>
          </a:xfrm>
          <a:prstGeom prst="rect">
            <a:avLst/>
          </a:prstGeom>
          <a:noFill/>
        </p:spPr>
        <p:txBody>
          <a:bodyPr wrap="none">
            <a:spAutoFit/>
          </a:bodyPr>
          <a:lstStyle/>
          <a:p>
            <a:pPr algn="l"/>
            <a:r>
              <a:rPr sz="750">
                <a:solidFill>
                  <a:srgbClr val="607082"/>
                </a:solidFill>
                <a:latin typeface="Aptos"/>
              </a:rPr>
              <a:t>CCC604 Assessment 8  |  Multi-Cloud Security Integration  |  12</a:t>
            </a:r>
          </a:p>
        </p:txBody>
      </p:sp>
      <p:sp>
        <p:nvSpPr>
          <p:cNvPr id="11" name="Oval 10"/>
          <p:cNvSpPr/>
          <p:nvPr/>
        </p:nvSpPr>
        <p:spPr>
          <a:xfrm>
            <a:off x="11292840" y="6537960"/>
            <a:ext cx="128016" cy="128016"/>
          </a:xfrm>
          <a:prstGeom prst="ellipse">
            <a:avLst/>
          </a:prstGeom>
          <a:solidFill>
            <a:srgbClr val="EE89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146304" cy="6858000"/>
          </a:xfrm>
          <a:prstGeom prst="rect">
            <a:avLst/>
          </a:prstGeom>
          <a:solidFill>
            <a:srgbClr val="EE89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0"/>
            <a:ext cx="12192000"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 0"/>
          <p:cNvSpPr/>
          <p:nvPr/>
        </p:nvSpPr>
        <p:spPr>
          <a:xfrm>
            <a:off x="502920" y="201168"/>
            <a:ext cx="7680960" cy="411480"/>
          </a:xfrm>
          <a:prstGeom prst="rect">
            <a:avLst/>
          </a:prstGeom>
          <a:noFill/>
          <a:ln/>
        </p:spPr>
        <p:txBody>
          <a:bodyPr wrap="square" lIns="18288" tIns="9144" rIns="18288" bIns="9144" rtlCol="0" anchor="ctr"/>
          <a:lstStyle/>
          <a:p>
            <a:pPr marL="0" indent="0">
              <a:buNone/>
            </a:pPr>
            <a:r>
              <a:rPr lang="en-US" sz="2700" b="1" dirty="0">
                <a:solidFill>
                  <a:srgbClr val="0B1F33"/>
                </a:solidFill>
                <a:latin typeface="Aptos"/>
              </a:rPr>
              <a:t>Monitoring and notifications</a:t>
            </a:r>
            <a:endParaRPr lang="en-US" sz="2400" dirty="0"/>
          </a:p>
        </p:txBody>
      </p:sp>
      <p:sp>
        <p:nvSpPr>
          <p:cNvPr id="3" name="Text 1"/>
          <p:cNvSpPr/>
          <p:nvPr/>
        </p:nvSpPr>
        <p:spPr>
          <a:xfrm>
            <a:off x="530352" y="667512"/>
            <a:ext cx="7772400" cy="228600"/>
          </a:xfrm>
          <a:prstGeom prst="rect">
            <a:avLst/>
          </a:prstGeom>
          <a:noFill/>
          <a:ln/>
        </p:spPr>
        <p:txBody>
          <a:bodyPr wrap="square" lIns="18288" tIns="9144" rIns="18288" bIns="9144" rtlCol="0" anchor="ctr"/>
          <a:lstStyle/>
          <a:p>
            <a:pPr marL="0" indent="0">
              <a:buNone/>
            </a:pPr>
            <a:r>
              <a:rPr lang="en-US" sz="1350" dirty="0" b="0">
                <a:solidFill>
                  <a:srgbClr val="607082"/>
                </a:solidFill>
                <a:latin typeface="Aptos"/>
              </a:rPr>
              <a:t>CloudWatch, CloudTrail and SNS supported visibility</a:t>
            </a:r>
            <a:endParaRPr lang="en-US" sz="1050" dirty="0"/>
          </a:p>
        </p:txBody>
      </p:sp>
      <p:sp>
        <p:nvSpPr>
          <p:cNvPr id="4" name="Text 2"/>
          <p:cNvSpPr/>
          <p:nvPr/>
        </p:nvSpPr>
        <p:spPr>
          <a:xfrm>
            <a:off x="9372600" y="310896"/>
            <a:ext cx="2057400" cy="256032"/>
          </a:xfrm>
          <a:prstGeom prst="rect">
            <a:avLst/>
          </a:prstGeom>
          <a:solidFill>
            <a:srgbClr val="EE8925"/>
          </a:solidFill>
          <a:ln>
            <a:noFill/>
          </a:ln>
        </p:spPr>
        <p:txBody>
          <a:bodyPr wrap="square" lIns="18288" tIns="9144" rIns="18288" bIns="9144" rtlCol="0" anchor="ctr"/>
          <a:lstStyle/>
          <a:p>
            <a:pPr marL="0" indent="0" algn="ctr">
              <a:buNone/>
            </a:pPr>
            <a:r>
              <a:rPr lang="en-US" sz="950" b="1" dirty="0">
                <a:solidFill>
                  <a:srgbClr val="FFFFFF"/>
                </a:solidFill>
                <a:latin typeface="Aptos"/>
              </a:rPr>
              <a:t>AWS security</a:t>
            </a:r>
            <a:endParaRPr lang="en-US" sz="850" dirty="0"/>
          </a:p>
        </p:txBody>
      </p:sp>
      <p:pic>
        <p:nvPicPr>
          <p:cNvPr id="5" name="Image 0" descr="/mnt/data/ppt_assets/monitor.png"/>
          <p:cNvPicPr>
            <a:picLocks noChangeAspect="1"/>
          </p:cNvPicPr>
          <p:nvPr/>
        </p:nvPicPr>
        <p:blipFill>
          <a:blip r:embed="rId3"/>
          <a:stretch>
            <a:fillRect/>
          </a:stretch>
        </p:blipFill>
        <p:spPr>
          <a:xfrm>
            <a:off x="6949440" y="1739973"/>
            <a:ext cx="4389120" cy="3469495"/>
          </a:xfrm>
          <a:prstGeom prst="rect">
            <a:avLst/>
          </a:prstGeom>
          <a:ln w="12700">
            <a:solidFill>
              <a:srgbClr val="D2DCE6"/>
            </a:solidFill>
          </a:ln>
        </p:spPr>
      </p:pic>
      <p:sp>
        <p:nvSpPr>
          <p:cNvPr id="6" name="Text 3"/>
          <p:cNvSpPr/>
          <p:nvPr/>
        </p:nvSpPr>
        <p:spPr>
          <a:xfrm>
            <a:off x="685800" y="1234440"/>
            <a:ext cx="5669280" cy="3840480"/>
          </a:xfrm>
          <a:prstGeom prst="rect">
            <a:avLst/>
          </a:prstGeom>
          <a:noFill/>
          <a:ln/>
        </p:spPr>
        <p:txBody>
          <a:bodyPr wrap="square" lIns="18288" tIns="9144" rIns="18288" bIns="9144" rtlCol="0" anchor="ctr">
            <a:normAutofit/>
          </a:bodyPr>
          <a:lstStyle/>
          <a:p>
            <a:r>
              <a:rPr lang="en-US" sz="1600" dirty="0" b="0">
                <a:solidFill>
                  <a:srgbClr val="233040"/>
                </a:solidFill>
                <a:latin typeface="Aptos"/>
              </a:rPr>
              <a:t>CloudWatch used for monitoring events and operational alerts</a:t>
            </a:r>
            <a:endParaRPr lang="en-US" sz="1650" dirty="0"/>
          </a:p>
          <a:p>
            <a:r>
              <a:rPr lang="en-US" sz="1600" dirty="0" b="0">
                <a:solidFill>
                  <a:srgbClr val="233040"/>
                </a:solidFill>
                <a:latin typeface="Aptos"/>
              </a:rPr>
              <a:t>SNS configured for notification delivery</a:t>
            </a:r>
            <a:endParaRPr lang="en-US" sz="1650" dirty="0"/>
          </a:p>
          <a:p>
            <a:r>
              <a:rPr lang="en-US" sz="1600" dirty="0" b="0">
                <a:solidFill>
                  <a:srgbClr val="233040"/>
                </a:solidFill>
                <a:latin typeface="Aptos"/>
              </a:rPr>
              <a:t>CloudTrail included for AWS API activity and configuration changes</a:t>
            </a:r>
            <a:endParaRPr lang="en-US" sz="1650" dirty="0"/>
          </a:p>
          <a:p>
            <a:r>
              <a:rPr lang="en-US" sz="1600" dirty="0" b="0">
                <a:solidFill>
                  <a:srgbClr val="233040"/>
                </a:solidFill>
                <a:latin typeface="Aptos"/>
              </a:rPr>
              <a:t>Logs and alerts support troubleshooting and incident review</a:t>
            </a:r>
            <a:endParaRPr lang="en-US" sz="1650" dirty="0"/>
          </a:p>
        </p:txBody>
      </p:sp>
      <p:sp>
        <p:nvSpPr>
          <p:cNvPr id="9" name="Rectangle 8"/>
          <p:cNvSpPr/>
          <p:nvPr/>
        </p:nvSpPr>
        <p:spPr>
          <a:xfrm>
            <a:off x="502920" y="960120"/>
            <a:ext cx="10881360" cy="22860"/>
          </a:xfrm>
          <a:prstGeom prst="rect">
            <a:avLst/>
          </a:prstGeom>
          <a:solidFill>
            <a:srgbClr val="EE89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565392"/>
            <a:ext cx="10972800" cy="164592"/>
          </a:xfrm>
          <a:prstGeom prst="rect">
            <a:avLst/>
          </a:prstGeom>
          <a:noFill/>
        </p:spPr>
        <p:txBody>
          <a:bodyPr wrap="none">
            <a:spAutoFit/>
          </a:bodyPr>
          <a:lstStyle/>
          <a:p>
            <a:pPr algn="l"/>
            <a:r>
              <a:rPr sz="750">
                <a:solidFill>
                  <a:srgbClr val="607082"/>
                </a:solidFill>
                <a:latin typeface="Aptos"/>
              </a:rPr>
              <a:t>CCC604 Assessment 8  |  Multi-Cloud Security Integration  |  13</a:t>
            </a:r>
          </a:p>
        </p:txBody>
      </p:sp>
      <p:sp>
        <p:nvSpPr>
          <p:cNvPr id="11" name="Oval 10"/>
          <p:cNvSpPr/>
          <p:nvPr/>
        </p:nvSpPr>
        <p:spPr>
          <a:xfrm>
            <a:off x="11292840" y="6537960"/>
            <a:ext cx="128016" cy="128016"/>
          </a:xfrm>
          <a:prstGeom prst="ellipse">
            <a:avLst/>
          </a:prstGeom>
          <a:solidFill>
            <a:srgbClr val="EE89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146304" cy="6858000"/>
          </a:xfrm>
          <a:prstGeom prst="rect">
            <a:avLst/>
          </a:prstGeom>
          <a:solidFill>
            <a:srgbClr val="EE89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0"/>
            <a:ext cx="12192000"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 0"/>
          <p:cNvSpPr/>
          <p:nvPr/>
        </p:nvSpPr>
        <p:spPr>
          <a:xfrm>
            <a:off x="502920" y="201168"/>
            <a:ext cx="7680960" cy="411480"/>
          </a:xfrm>
          <a:prstGeom prst="rect">
            <a:avLst/>
          </a:prstGeom>
          <a:noFill/>
          <a:ln/>
        </p:spPr>
        <p:txBody>
          <a:bodyPr wrap="square" lIns="18288" tIns="9144" rIns="18288" bIns="9144" rtlCol="0" anchor="ctr"/>
          <a:lstStyle/>
          <a:p>
            <a:pPr marL="0" indent="0">
              <a:buNone/>
            </a:pPr>
            <a:r>
              <a:rPr lang="en-US" sz="2700" b="1" dirty="0">
                <a:solidFill>
                  <a:srgbClr val="0B1F33"/>
                </a:solidFill>
                <a:latin typeface="Aptos"/>
              </a:rPr>
              <a:t>Secure remote access</a:t>
            </a:r>
            <a:endParaRPr lang="en-US" sz="2400" dirty="0"/>
          </a:p>
        </p:txBody>
      </p:sp>
      <p:sp>
        <p:nvSpPr>
          <p:cNvPr id="3" name="Text 1"/>
          <p:cNvSpPr/>
          <p:nvPr/>
        </p:nvSpPr>
        <p:spPr>
          <a:xfrm>
            <a:off x="530352" y="667512"/>
            <a:ext cx="7772400" cy="228600"/>
          </a:xfrm>
          <a:prstGeom prst="rect">
            <a:avLst/>
          </a:prstGeom>
          <a:noFill/>
          <a:ln/>
        </p:spPr>
        <p:txBody>
          <a:bodyPr wrap="square" lIns="18288" tIns="9144" rIns="18288" bIns="9144" rtlCol="0" anchor="ctr"/>
          <a:lstStyle/>
          <a:p>
            <a:pPr marL="0" indent="0">
              <a:buNone/>
            </a:pPr>
            <a:r>
              <a:rPr lang="en-US" sz="1350" dirty="0" b="0">
                <a:solidFill>
                  <a:srgbClr val="607082"/>
                </a:solidFill>
                <a:latin typeface="Aptos"/>
              </a:rPr>
              <a:t>OpenVPN and FortiGate reduced direct exposure</a:t>
            </a:r>
            <a:endParaRPr lang="en-US" sz="1050" dirty="0"/>
          </a:p>
        </p:txBody>
      </p:sp>
      <p:sp>
        <p:nvSpPr>
          <p:cNvPr id="4" name="Text 2"/>
          <p:cNvSpPr/>
          <p:nvPr/>
        </p:nvSpPr>
        <p:spPr>
          <a:xfrm>
            <a:off x="9372600" y="310896"/>
            <a:ext cx="2057400" cy="256032"/>
          </a:xfrm>
          <a:prstGeom prst="rect">
            <a:avLst/>
          </a:prstGeom>
          <a:solidFill>
            <a:srgbClr val="EE8925"/>
          </a:solidFill>
          <a:ln>
            <a:noFill/>
          </a:ln>
        </p:spPr>
        <p:txBody>
          <a:bodyPr wrap="square" lIns="18288" tIns="9144" rIns="18288" bIns="9144" rtlCol="0" anchor="ctr"/>
          <a:lstStyle/>
          <a:p>
            <a:pPr marL="0" indent="0" algn="ctr">
              <a:buNone/>
            </a:pPr>
            <a:r>
              <a:rPr lang="en-US" sz="950" b="1" dirty="0">
                <a:solidFill>
                  <a:srgbClr val="FFFFFF"/>
                </a:solidFill>
                <a:latin typeface="Aptos"/>
              </a:rPr>
              <a:t>AWS/Fortinet</a:t>
            </a:r>
            <a:endParaRPr lang="en-US" sz="850" dirty="0"/>
          </a:p>
        </p:txBody>
      </p:sp>
      <p:pic>
        <p:nvPicPr>
          <p:cNvPr id="5" name="Image 0" descr="/mnt/data/ppt_assets/openvpn.png"/>
          <p:cNvPicPr>
            <a:picLocks noChangeAspect="1"/>
          </p:cNvPicPr>
          <p:nvPr/>
        </p:nvPicPr>
        <p:blipFill>
          <a:blip r:embed="rId3"/>
          <a:stretch>
            <a:fillRect/>
          </a:stretch>
        </p:blipFill>
        <p:spPr>
          <a:xfrm>
            <a:off x="6583680" y="1367246"/>
            <a:ext cx="4709160" cy="4260669"/>
          </a:xfrm>
          <a:prstGeom prst="rect">
            <a:avLst/>
          </a:prstGeom>
          <a:ln w="12700">
            <a:solidFill>
              <a:srgbClr val="D2DCE6"/>
            </a:solidFill>
          </a:ln>
        </p:spPr>
      </p:pic>
      <p:sp>
        <p:nvSpPr>
          <p:cNvPr id="6" name="Text 3"/>
          <p:cNvSpPr/>
          <p:nvPr/>
        </p:nvSpPr>
        <p:spPr>
          <a:xfrm>
            <a:off x="685800" y="1188720"/>
            <a:ext cx="5486400" cy="4023360"/>
          </a:xfrm>
          <a:prstGeom prst="rect">
            <a:avLst/>
          </a:prstGeom>
          <a:noFill/>
          <a:ln/>
        </p:spPr>
        <p:txBody>
          <a:bodyPr wrap="square" lIns="18288" tIns="9144" rIns="18288" bIns="9144" rtlCol="0" anchor="ctr">
            <a:normAutofit/>
          </a:bodyPr>
          <a:lstStyle/>
          <a:p>
            <a:r>
              <a:rPr lang="en-US" sz="1600" dirty="0" b="0">
                <a:solidFill>
                  <a:srgbClr val="233040"/>
                </a:solidFill>
                <a:latin typeface="Aptos"/>
              </a:rPr>
              <a:t>OpenVPN used to support private access paths</a:t>
            </a:r>
            <a:endParaRPr lang="en-US" sz="1650" dirty="0"/>
          </a:p>
          <a:p>
            <a:r>
              <a:rPr lang="en-US" sz="1600" dirty="0" b="0">
                <a:solidFill>
                  <a:srgbClr val="233040"/>
                </a:solidFill>
                <a:latin typeface="Aptos"/>
              </a:rPr>
              <a:t>Management access should not rely on public SSH exposure</a:t>
            </a:r>
            <a:endParaRPr lang="en-US" sz="1650" dirty="0"/>
          </a:p>
          <a:p>
            <a:r>
              <a:rPr lang="en-US" sz="1600" dirty="0" b="0">
                <a:solidFill>
                  <a:srgbClr val="233040"/>
                </a:solidFill>
                <a:latin typeface="Aptos"/>
              </a:rPr>
              <a:t>VPN/FortiGate controls help limit who can reach internal resources</a:t>
            </a:r>
            <a:endParaRPr lang="en-US" sz="1650" dirty="0"/>
          </a:p>
          <a:p>
            <a:r>
              <a:rPr lang="en-US" sz="1600" dirty="0" b="0">
                <a:solidFill>
                  <a:srgbClr val="233040"/>
                </a:solidFill>
                <a:latin typeface="Aptos"/>
              </a:rPr>
              <a:t>This became important during the Security Group incident review</a:t>
            </a:r>
            <a:endParaRPr lang="en-US" sz="1650" dirty="0"/>
          </a:p>
        </p:txBody>
      </p:sp>
      <p:sp>
        <p:nvSpPr>
          <p:cNvPr id="9" name="Rectangle 8"/>
          <p:cNvSpPr/>
          <p:nvPr/>
        </p:nvSpPr>
        <p:spPr>
          <a:xfrm>
            <a:off x="502920" y="960120"/>
            <a:ext cx="10881360" cy="22860"/>
          </a:xfrm>
          <a:prstGeom prst="rect">
            <a:avLst/>
          </a:prstGeom>
          <a:solidFill>
            <a:srgbClr val="EE89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565392"/>
            <a:ext cx="10972800" cy="164592"/>
          </a:xfrm>
          <a:prstGeom prst="rect">
            <a:avLst/>
          </a:prstGeom>
          <a:noFill/>
        </p:spPr>
        <p:txBody>
          <a:bodyPr wrap="none">
            <a:spAutoFit/>
          </a:bodyPr>
          <a:lstStyle/>
          <a:p>
            <a:pPr algn="l"/>
            <a:r>
              <a:rPr sz="750">
                <a:solidFill>
                  <a:srgbClr val="607082"/>
                </a:solidFill>
                <a:latin typeface="Aptos"/>
              </a:rPr>
              <a:t>CCC604 Assessment 8  |  Multi-Cloud Security Integration  |  14</a:t>
            </a:r>
          </a:p>
        </p:txBody>
      </p:sp>
      <p:sp>
        <p:nvSpPr>
          <p:cNvPr id="11" name="Oval 10"/>
          <p:cNvSpPr/>
          <p:nvPr/>
        </p:nvSpPr>
        <p:spPr>
          <a:xfrm>
            <a:off x="11292840" y="6537960"/>
            <a:ext cx="128016" cy="128016"/>
          </a:xfrm>
          <a:prstGeom prst="ellipse">
            <a:avLst/>
          </a:prstGeom>
          <a:solidFill>
            <a:srgbClr val="EE89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146304" cy="6858000"/>
          </a:xfrm>
          <a:prstGeom prst="rect">
            <a:avLst/>
          </a:prstGeom>
          <a:solidFill>
            <a:srgbClr val="EE89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0"/>
            <a:ext cx="12192000"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 0"/>
          <p:cNvSpPr/>
          <p:nvPr/>
        </p:nvSpPr>
        <p:spPr>
          <a:xfrm>
            <a:off x="502920" y="201168"/>
            <a:ext cx="7680960" cy="411480"/>
          </a:xfrm>
          <a:prstGeom prst="rect">
            <a:avLst/>
          </a:prstGeom>
          <a:noFill/>
          <a:ln/>
        </p:spPr>
        <p:txBody>
          <a:bodyPr wrap="square" lIns="18288" tIns="9144" rIns="18288" bIns="9144" rtlCol="0" anchor="ctr"/>
          <a:lstStyle/>
          <a:p>
            <a:pPr marL="0" indent="0">
              <a:buNone/>
            </a:pPr>
            <a:r>
              <a:rPr lang="en-US" sz="2700" b="1" dirty="0">
                <a:solidFill>
                  <a:srgbClr val="0B1F33"/>
                </a:solidFill>
                <a:latin typeface="Aptos"/>
              </a:rPr>
              <a:t>WordPress application and HTTPS</a:t>
            </a:r>
            <a:endParaRPr lang="en-US" sz="2400" dirty="0"/>
          </a:p>
        </p:txBody>
      </p:sp>
      <p:sp>
        <p:nvSpPr>
          <p:cNvPr id="3" name="Text 1"/>
          <p:cNvSpPr/>
          <p:nvPr/>
        </p:nvSpPr>
        <p:spPr>
          <a:xfrm>
            <a:off x="530352" y="667512"/>
            <a:ext cx="7772400" cy="228600"/>
          </a:xfrm>
          <a:prstGeom prst="rect">
            <a:avLst/>
          </a:prstGeom>
          <a:noFill/>
          <a:ln/>
        </p:spPr>
        <p:txBody>
          <a:bodyPr wrap="square" lIns="18288" tIns="9144" rIns="18288" bIns="9144" rtlCol="0" anchor="ctr"/>
          <a:lstStyle/>
          <a:p>
            <a:pPr marL="0" indent="0">
              <a:buNone/>
            </a:pPr>
            <a:r>
              <a:rPr lang="en-US" sz="1350" dirty="0" b="0">
                <a:solidFill>
                  <a:srgbClr val="607082"/>
                </a:solidFill>
                <a:latin typeface="Aptos"/>
              </a:rPr>
              <a:t>Final workload and secure public access</a:t>
            </a:r>
            <a:endParaRPr lang="en-US" sz="1050" dirty="0"/>
          </a:p>
        </p:txBody>
      </p:sp>
      <p:sp>
        <p:nvSpPr>
          <p:cNvPr id="4" name="Text 2"/>
          <p:cNvSpPr/>
          <p:nvPr/>
        </p:nvSpPr>
        <p:spPr>
          <a:xfrm>
            <a:off x="9372600" y="310896"/>
            <a:ext cx="2057400" cy="256032"/>
          </a:xfrm>
          <a:prstGeom prst="rect">
            <a:avLst/>
          </a:prstGeom>
          <a:solidFill>
            <a:srgbClr val="EE8925"/>
          </a:solidFill>
          <a:ln>
            <a:noFill/>
          </a:ln>
        </p:spPr>
        <p:txBody>
          <a:bodyPr wrap="square" lIns="18288" tIns="9144" rIns="18288" bIns="9144" rtlCol="0" anchor="ctr"/>
          <a:lstStyle/>
          <a:p>
            <a:pPr marL="0" indent="0" algn="ctr">
              <a:buNone/>
            </a:pPr>
            <a:r>
              <a:rPr lang="en-US" sz="950" b="1" dirty="0">
                <a:solidFill>
                  <a:srgbClr val="FFFFFF"/>
                </a:solidFill>
                <a:latin typeface="Aptos"/>
              </a:rPr>
              <a:t>Application</a:t>
            </a:r>
            <a:endParaRPr lang="en-US" sz="850" dirty="0"/>
          </a:p>
        </p:txBody>
      </p:sp>
      <p:pic>
        <p:nvPicPr>
          <p:cNvPr id="5" name="Image 0" descr="/mnt/data/ppt_assets/wordpress.png"/>
          <p:cNvPicPr>
            <a:picLocks noChangeAspect="1"/>
          </p:cNvPicPr>
          <p:nvPr/>
        </p:nvPicPr>
        <p:blipFill>
          <a:blip r:embed="rId3"/>
          <a:stretch>
            <a:fillRect/>
          </a:stretch>
        </p:blipFill>
        <p:spPr>
          <a:xfrm>
            <a:off x="6675120" y="1405674"/>
            <a:ext cx="4572000" cy="4183811"/>
          </a:xfrm>
          <a:prstGeom prst="rect">
            <a:avLst/>
          </a:prstGeom>
          <a:ln w="12700">
            <a:solidFill>
              <a:srgbClr val="D2DCE6"/>
            </a:solidFill>
          </a:ln>
        </p:spPr>
      </p:pic>
      <p:sp>
        <p:nvSpPr>
          <p:cNvPr id="6" name="Text 3"/>
          <p:cNvSpPr/>
          <p:nvPr/>
        </p:nvSpPr>
        <p:spPr>
          <a:xfrm>
            <a:off x="685800" y="1188720"/>
            <a:ext cx="5577840" cy="4023360"/>
          </a:xfrm>
          <a:prstGeom prst="rect">
            <a:avLst/>
          </a:prstGeom>
          <a:noFill/>
          <a:ln/>
        </p:spPr>
        <p:txBody>
          <a:bodyPr wrap="square" lIns="18288" tIns="9144" rIns="18288" bIns="9144" rtlCol="0" anchor="ctr">
            <a:normAutofit/>
          </a:bodyPr>
          <a:lstStyle/>
          <a:p>
            <a:r>
              <a:rPr lang="en-US" sz="1800" dirty="0" b="0">
                <a:solidFill>
                  <a:srgbClr val="233040"/>
                </a:solidFill>
                <a:latin typeface="Aptos"/>
              </a:rPr>
              <a:t>WordPress was deployed as the main application workload</a:t>
            </a:r>
            <a:endParaRPr lang="en-US" sz="1650" dirty="0"/>
          </a:p>
          <a:p>
            <a:r>
              <a:rPr lang="en-US" sz="1800" dirty="0" b="0">
                <a:solidFill>
                  <a:srgbClr val="233040"/>
                </a:solidFill>
                <a:latin typeface="Aptos"/>
              </a:rPr>
              <a:t>RDS supported the database back end</a:t>
            </a:r>
            <a:endParaRPr lang="en-US" sz="1650" dirty="0"/>
          </a:p>
          <a:p>
            <a:r>
              <a:rPr lang="en-US" sz="1800" dirty="0" b="0">
                <a:solidFill>
                  <a:srgbClr val="233040"/>
                </a:solidFill>
                <a:latin typeface="Aptos"/>
              </a:rPr>
              <a:t>Load Balancer + ACM provided secure HTTPS access</a:t>
            </a:r>
            <a:endParaRPr lang="en-US" sz="1650" dirty="0"/>
          </a:p>
          <a:p>
            <a:r>
              <a:rPr lang="en-US" sz="1800" dirty="0" b="0">
                <a:solidFill>
                  <a:srgbClr val="233040"/>
                </a:solidFill>
                <a:latin typeface="Aptos"/>
              </a:rPr>
              <a:t>Azure DNS was later used to resolve the public name to the AWS endpoint</a:t>
            </a:r>
            <a:endParaRPr lang="en-US" sz="1650" dirty="0"/>
          </a:p>
        </p:txBody>
      </p:sp>
      <p:sp>
        <p:nvSpPr>
          <p:cNvPr id="9" name="Rectangle 8"/>
          <p:cNvSpPr/>
          <p:nvPr/>
        </p:nvSpPr>
        <p:spPr>
          <a:xfrm>
            <a:off x="502920" y="960120"/>
            <a:ext cx="10881360" cy="22860"/>
          </a:xfrm>
          <a:prstGeom prst="rect">
            <a:avLst/>
          </a:prstGeom>
          <a:solidFill>
            <a:srgbClr val="EE89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565392"/>
            <a:ext cx="10972800" cy="164592"/>
          </a:xfrm>
          <a:prstGeom prst="rect">
            <a:avLst/>
          </a:prstGeom>
          <a:noFill/>
        </p:spPr>
        <p:txBody>
          <a:bodyPr wrap="none">
            <a:spAutoFit/>
          </a:bodyPr>
          <a:lstStyle/>
          <a:p>
            <a:pPr algn="l"/>
            <a:r>
              <a:rPr sz="750">
                <a:solidFill>
                  <a:srgbClr val="607082"/>
                </a:solidFill>
                <a:latin typeface="Aptos"/>
              </a:rPr>
              <a:t>CCC604 Assessment 8  |  Multi-Cloud Security Integration  |  15</a:t>
            </a:r>
          </a:p>
        </p:txBody>
      </p:sp>
      <p:sp>
        <p:nvSpPr>
          <p:cNvPr id="11" name="Oval 10"/>
          <p:cNvSpPr/>
          <p:nvPr/>
        </p:nvSpPr>
        <p:spPr>
          <a:xfrm>
            <a:off x="11292840" y="6537960"/>
            <a:ext cx="128016" cy="128016"/>
          </a:xfrm>
          <a:prstGeom prst="ellipse">
            <a:avLst/>
          </a:prstGeom>
          <a:solidFill>
            <a:srgbClr val="EE89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146304"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0"/>
            <a:ext cx="12192000"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 0"/>
          <p:cNvSpPr/>
          <p:nvPr/>
        </p:nvSpPr>
        <p:spPr>
          <a:xfrm>
            <a:off x="502920" y="201168"/>
            <a:ext cx="7680960" cy="411480"/>
          </a:xfrm>
          <a:prstGeom prst="rect">
            <a:avLst/>
          </a:prstGeom>
          <a:noFill/>
          <a:ln/>
        </p:spPr>
        <p:txBody>
          <a:bodyPr wrap="square" lIns="18288" tIns="9144" rIns="18288" bIns="9144" rtlCol="0" anchor="ctr"/>
          <a:lstStyle/>
          <a:p>
            <a:pPr marL="0" indent="0">
              <a:buNone/>
            </a:pPr>
            <a:r>
              <a:rPr lang="en-US" sz="2700" b="1" dirty="0">
                <a:solidFill>
                  <a:srgbClr val="0B1F33"/>
                </a:solidFill>
                <a:latin typeface="Aptos"/>
              </a:rPr>
              <a:t>Azure implementation</a:t>
            </a:r>
            <a:endParaRPr lang="en-US" sz="2400" dirty="0"/>
          </a:p>
        </p:txBody>
      </p:sp>
      <p:sp>
        <p:nvSpPr>
          <p:cNvPr id="3" name="Text 1"/>
          <p:cNvSpPr/>
          <p:nvPr/>
        </p:nvSpPr>
        <p:spPr>
          <a:xfrm>
            <a:off x="530352" y="667512"/>
            <a:ext cx="7772400" cy="228600"/>
          </a:xfrm>
          <a:prstGeom prst="rect">
            <a:avLst/>
          </a:prstGeom>
          <a:noFill/>
          <a:ln/>
        </p:spPr>
        <p:txBody>
          <a:bodyPr wrap="square" lIns="18288" tIns="9144" rIns="18288" bIns="9144" rtlCol="0" anchor="ctr"/>
          <a:lstStyle/>
          <a:p>
            <a:pPr marL="0" indent="0">
              <a:buNone/>
            </a:pPr>
            <a:r>
              <a:rPr lang="en-US" sz="1350" dirty="0" b="0">
                <a:solidFill>
                  <a:srgbClr val="607082"/>
                </a:solidFill>
                <a:latin typeface="Aptos"/>
              </a:rPr>
              <a:t>Subscription, Azure AD, RBAC, MFA and DNS</a:t>
            </a:r>
            <a:endParaRPr lang="en-US" sz="1050" dirty="0"/>
          </a:p>
        </p:txBody>
      </p:sp>
      <p:sp>
        <p:nvSpPr>
          <p:cNvPr id="4" name="Text 2"/>
          <p:cNvSpPr/>
          <p:nvPr/>
        </p:nvSpPr>
        <p:spPr>
          <a:xfrm>
            <a:off x="9372600" y="310896"/>
            <a:ext cx="2057400" cy="256032"/>
          </a:xfrm>
          <a:prstGeom prst="rect">
            <a:avLst/>
          </a:prstGeom>
          <a:solidFill>
            <a:srgbClr val="0078D4"/>
          </a:solidFill>
          <a:ln>
            <a:noFill/>
          </a:ln>
        </p:spPr>
        <p:txBody>
          <a:bodyPr wrap="square" lIns="18288" tIns="9144" rIns="18288" bIns="9144" rtlCol="0" anchor="ctr"/>
          <a:lstStyle/>
          <a:p>
            <a:pPr marL="0" indent="0" algn="ctr">
              <a:buNone/>
            </a:pPr>
            <a:r>
              <a:rPr lang="en-US" sz="950" b="1" dirty="0">
                <a:solidFill>
                  <a:srgbClr val="FFFFFF"/>
                </a:solidFill>
                <a:latin typeface="Aptos"/>
              </a:rPr>
              <a:t>Azure implementation</a:t>
            </a:r>
            <a:endParaRPr lang="en-US" sz="850" dirty="0"/>
          </a:p>
        </p:txBody>
      </p:sp>
      <p:pic>
        <p:nvPicPr>
          <p:cNvPr id="5" name="Image 0" descr="/mnt/data/ppt_assets/azure.png"/>
          <p:cNvPicPr>
            <a:picLocks noChangeAspect="1"/>
          </p:cNvPicPr>
          <p:nvPr/>
        </p:nvPicPr>
        <p:blipFill>
          <a:blip r:embed="rId3"/>
          <a:stretch>
            <a:fillRect/>
          </a:stretch>
        </p:blipFill>
        <p:spPr>
          <a:xfrm>
            <a:off x="6858000" y="1592868"/>
            <a:ext cx="4389120" cy="3809425"/>
          </a:xfrm>
          <a:prstGeom prst="rect">
            <a:avLst/>
          </a:prstGeom>
          <a:ln w="12700">
            <a:solidFill>
              <a:srgbClr val="D2DCE6"/>
            </a:solidFill>
          </a:ln>
        </p:spPr>
      </p:pic>
      <p:sp>
        <p:nvSpPr>
          <p:cNvPr id="6" name="Text 3"/>
          <p:cNvSpPr/>
          <p:nvPr/>
        </p:nvSpPr>
        <p:spPr>
          <a:xfrm>
            <a:off x="685800" y="1143000"/>
            <a:ext cx="5669280" cy="4297680"/>
          </a:xfrm>
          <a:prstGeom prst="rect">
            <a:avLst/>
          </a:prstGeom>
          <a:noFill/>
          <a:ln/>
        </p:spPr>
        <p:txBody>
          <a:bodyPr wrap="square" lIns="18288" tIns="9144" rIns="18288" bIns="9144" rtlCol="0" anchor="ctr">
            <a:normAutofit/>
          </a:bodyPr>
          <a:lstStyle/>
          <a:p>
            <a:r>
              <a:rPr lang="en-US" sz="1600" dirty="0" b="0">
                <a:solidFill>
                  <a:srgbClr val="233040"/>
                </a:solidFill>
                <a:latin typeface="Aptos"/>
              </a:rPr>
              <a:t>Azure subscription checked before deployment work</a:t>
            </a:r>
            <a:endParaRPr lang="en-US" sz="1600" dirty="0"/>
          </a:p>
          <a:p>
            <a:r>
              <a:rPr lang="en-US" sz="1600" dirty="0" b="0">
                <a:solidFill>
                  <a:srgbClr val="233040"/>
                </a:solidFill>
                <a:latin typeface="Aptos"/>
              </a:rPr>
              <a:t>Azure AD tenant created for the project context</a:t>
            </a:r>
            <a:endParaRPr lang="en-US" sz="1600" dirty="0"/>
          </a:p>
          <a:p>
            <a:r>
              <a:rPr lang="en-US" sz="1600" dirty="0" b="0">
                <a:solidFill>
                  <a:srgbClr val="233040"/>
                </a:solidFill>
                <a:latin typeface="Aptos"/>
              </a:rPr>
              <a:t>RBAC used to limit access by role</a:t>
            </a:r>
            <a:endParaRPr lang="en-US" sz="1600" dirty="0"/>
          </a:p>
          <a:p>
            <a:r>
              <a:rPr lang="en-US" sz="1600" dirty="0" b="0">
                <a:solidFill>
                  <a:srgbClr val="233040"/>
                </a:solidFill>
                <a:latin typeface="Aptos"/>
              </a:rPr>
              <a:t>MFA added an extra layer of account protection</a:t>
            </a:r>
            <a:endParaRPr lang="en-US" sz="1600" dirty="0"/>
          </a:p>
          <a:p>
            <a:r>
              <a:rPr lang="en-US" sz="1600" dirty="0" b="0">
                <a:solidFill>
                  <a:srgbClr val="233040"/>
                </a:solidFill>
                <a:latin typeface="Aptos"/>
              </a:rPr>
              <a:t>Azure DNS used as the public DNS integration point</a:t>
            </a:r>
            <a:endParaRPr lang="en-US" sz="1600" dirty="0"/>
          </a:p>
        </p:txBody>
      </p:sp>
      <p:sp>
        <p:nvSpPr>
          <p:cNvPr id="9" name="Rectangle 8"/>
          <p:cNvSpPr/>
          <p:nvPr/>
        </p:nvSpPr>
        <p:spPr>
          <a:xfrm>
            <a:off x="502920" y="960120"/>
            <a:ext cx="10881360" cy="2286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565392"/>
            <a:ext cx="10972800" cy="164592"/>
          </a:xfrm>
          <a:prstGeom prst="rect">
            <a:avLst/>
          </a:prstGeom>
          <a:noFill/>
        </p:spPr>
        <p:txBody>
          <a:bodyPr wrap="none">
            <a:spAutoFit/>
          </a:bodyPr>
          <a:lstStyle/>
          <a:p>
            <a:pPr algn="l"/>
            <a:r>
              <a:rPr sz="750">
                <a:solidFill>
                  <a:srgbClr val="607082"/>
                </a:solidFill>
                <a:latin typeface="Aptos"/>
              </a:rPr>
              <a:t>CCC604 Assessment 8  |  Multi-Cloud Security Integration  |  16</a:t>
            </a:r>
          </a:p>
        </p:txBody>
      </p:sp>
      <p:sp>
        <p:nvSpPr>
          <p:cNvPr id="11" name="Oval 10"/>
          <p:cNvSpPr/>
          <p:nvPr/>
        </p:nvSpPr>
        <p:spPr>
          <a:xfrm>
            <a:off x="11292840" y="6537960"/>
            <a:ext cx="128016" cy="128016"/>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1005840"/>
            <a:ext cx="1097280" cy="457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146304"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0"/>
            <a:ext cx="12192000"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 0"/>
          <p:cNvSpPr/>
          <p:nvPr/>
        </p:nvSpPr>
        <p:spPr>
          <a:xfrm>
            <a:off x="502920" y="201168"/>
            <a:ext cx="7680960" cy="411480"/>
          </a:xfrm>
          <a:prstGeom prst="rect">
            <a:avLst/>
          </a:prstGeom>
          <a:noFill/>
          <a:ln/>
        </p:spPr>
        <p:txBody>
          <a:bodyPr wrap="square" lIns="18288" tIns="9144" rIns="18288" bIns="9144" rtlCol="0" anchor="ctr"/>
          <a:lstStyle/>
          <a:p>
            <a:pPr marL="0" indent="0">
              <a:buNone/>
            </a:pPr>
            <a:r>
              <a:rPr lang="en-US" sz="2700" b="1" dirty="0">
                <a:solidFill>
                  <a:srgbClr val="0B1F33"/>
                </a:solidFill>
                <a:latin typeface="Aptos"/>
              </a:rPr>
              <a:t>Azure DNS and access testing</a:t>
            </a:r>
            <a:endParaRPr lang="en-US" sz="2400" dirty="0"/>
          </a:p>
        </p:txBody>
      </p:sp>
      <p:sp>
        <p:nvSpPr>
          <p:cNvPr id="3" name="Text 1"/>
          <p:cNvSpPr/>
          <p:nvPr/>
        </p:nvSpPr>
        <p:spPr>
          <a:xfrm>
            <a:off x="530352" y="667512"/>
            <a:ext cx="7772400" cy="228600"/>
          </a:xfrm>
          <a:prstGeom prst="rect">
            <a:avLst/>
          </a:prstGeom>
          <a:noFill/>
          <a:ln/>
        </p:spPr>
        <p:txBody>
          <a:bodyPr wrap="square" lIns="18288" tIns="9144" rIns="18288" bIns="9144" rtlCol="0" anchor="ctr"/>
          <a:lstStyle/>
          <a:p>
            <a:pPr marL="0" indent="0">
              <a:buNone/>
            </a:pPr>
            <a:r>
              <a:rPr lang="en-US" sz="1350" dirty="0" b="0">
                <a:solidFill>
                  <a:srgbClr val="607082"/>
                </a:solidFill>
                <a:latin typeface="Aptos"/>
              </a:rPr>
              <a:t>AWS hosted the site; Azure DNS resolved the public name</a:t>
            </a:r>
            <a:endParaRPr lang="en-US" sz="1050" dirty="0"/>
          </a:p>
        </p:txBody>
      </p:sp>
      <p:sp>
        <p:nvSpPr>
          <p:cNvPr id="4" name="Text 2"/>
          <p:cNvSpPr/>
          <p:nvPr/>
        </p:nvSpPr>
        <p:spPr>
          <a:xfrm>
            <a:off x="9372600" y="310896"/>
            <a:ext cx="2057400" cy="256032"/>
          </a:xfrm>
          <a:prstGeom prst="rect">
            <a:avLst/>
          </a:prstGeom>
          <a:solidFill>
            <a:srgbClr val="0078D4"/>
          </a:solidFill>
          <a:ln>
            <a:noFill/>
          </a:ln>
        </p:spPr>
        <p:txBody>
          <a:bodyPr wrap="square" lIns="18288" tIns="9144" rIns="18288" bIns="9144" rtlCol="0" anchor="ctr"/>
          <a:lstStyle/>
          <a:p>
            <a:pPr marL="0" indent="0" algn="ctr">
              <a:buNone/>
            </a:pPr>
            <a:r>
              <a:rPr lang="en-US" sz="950" b="1" dirty="0">
                <a:solidFill>
                  <a:srgbClr val="FFFFFF"/>
                </a:solidFill>
                <a:latin typeface="Aptos"/>
              </a:rPr>
              <a:t>Azure integration</a:t>
            </a:r>
            <a:endParaRPr lang="en-US" sz="850" dirty="0"/>
          </a:p>
        </p:txBody>
      </p:sp>
      <p:pic>
        <p:nvPicPr>
          <p:cNvPr id="5" name="Image 0" descr="/mnt/data/ppt_assets/azuredns.png"/>
          <p:cNvPicPr>
            <a:picLocks noChangeAspect="1"/>
          </p:cNvPicPr>
          <p:nvPr/>
        </p:nvPicPr>
        <p:blipFill>
          <a:blip r:embed="rId3"/>
          <a:stretch>
            <a:fillRect/>
          </a:stretch>
        </p:blipFill>
        <p:spPr>
          <a:xfrm>
            <a:off x="6675120" y="1125316"/>
            <a:ext cx="4572000" cy="4744528"/>
          </a:xfrm>
          <a:prstGeom prst="rect">
            <a:avLst/>
          </a:prstGeom>
          <a:ln w="12700">
            <a:solidFill>
              <a:srgbClr val="D2DCE6"/>
            </a:solidFill>
          </a:ln>
        </p:spPr>
      </p:pic>
      <p:sp>
        <p:nvSpPr>
          <p:cNvPr id="6" name="Text 3"/>
          <p:cNvSpPr/>
          <p:nvPr/>
        </p:nvSpPr>
        <p:spPr>
          <a:xfrm>
            <a:off x="685800" y="1188720"/>
            <a:ext cx="5577840" cy="3977640"/>
          </a:xfrm>
          <a:prstGeom prst="rect">
            <a:avLst/>
          </a:prstGeom>
          <a:noFill/>
          <a:ln/>
        </p:spPr>
        <p:txBody>
          <a:bodyPr wrap="square" lIns="18288" tIns="9144" rIns="18288" bIns="9144" rtlCol="0" anchor="ctr">
            <a:normAutofit/>
          </a:bodyPr>
          <a:lstStyle/>
          <a:p>
            <a:r>
              <a:rPr lang="en-US" sz="1600" dirty="0" b="0">
                <a:solidFill>
                  <a:srgbClr val="233040"/>
                </a:solidFill>
                <a:latin typeface="Aptos"/>
              </a:rPr>
              <a:t>Azure DNS records pointed users to the AWS load balancer endpoint</a:t>
            </a:r>
            <a:endParaRPr lang="en-US" sz="1650" dirty="0"/>
          </a:p>
          <a:p>
            <a:r>
              <a:rPr lang="en-US" sz="1600" dirty="0" b="0">
                <a:solidFill>
                  <a:srgbClr val="233040"/>
                </a:solidFill>
                <a:latin typeface="Aptos"/>
              </a:rPr>
              <a:t>HTTPS testing confirmed secure public access</a:t>
            </a:r>
            <a:endParaRPr lang="en-US" sz="1650" dirty="0"/>
          </a:p>
          <a:p>
            <a:r>
              <a:rPr lang="en-US" sz="1600" dirty="0" b="0">
                <a:solidFill>
                  <a:srgbClr val="233040"/>
                </a:solidFill>
                <a:latin typeface="Aptos"/>
              </a:rPr>
              <a:t>VPN client testing supported controlled access checks</a:t>
            </a:r>
            <a:endParaRPr lang="en-US" sz="1650" dirty="0"/>
          </a:p>
          <a:p>
            <a:r>
              <a:rPr lang="en-US" sz="1600" dirty="0" b="0">
                <a:solidFill>
                  <a:srgbClr val="233040"/>
                </a:solidFill>
                <a:latin typeface="Aptos"/>
              </a:rPr>
              <a:t>This demonstrated that AWS and Azure were working together, not separately</a:t>
            </a:r>
            <a:endParaRPr lang="en-US" sz="1650" dirty="0"/>
          </a:p>
        </p:txBody>
      </p:sp>
      <p:sp>
        <p:nvSpPr>
          <p:cNvPr id="9" name="Rectangle 8"/>
          <p:cNvSpPr/>
          <p:nvPr/>
        </p:nvSpPr>
        <p:spPr>
          <a:xfrm>
            <a:off x="502920" y="960120"/>
            <a:ext cx="10881360" cy="2286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565392"/>
            <a:ext cx="10972800" cy="164592"/>
          </a:xfrm>
          <a:prstGeom prst="rect">
            <a:avLst/>
          </a:prstGeom>
          <a:noFill/>
        </p:spPr>
        <p:txBody>
          <a:bodyPr wrap="none">
            <a:spAutoFit/>
          </a:bodyPr>
          <a:lstStyle/>
          <a:p>
            <a:pPr algn="l"/>
            <a:r>
              <a:rPr sz="750">
                <a:solidFill>
                  <a:srgbClr val="607082"/>
                </a:solidFill>
                <a:latin typeface="Aptos"/>
              </a:rPr>
              <a:t>CCC604 Assessment 8  |  Multi-Cloud Security Integration  |  17</a:t>
            </a:r>
          </a:p>
        </p:txBody>
      </p:sp>
      <p:sp>
        <p:nvSpPr>
          <p:cNvPr id="11" name="Oval 10"/>
          <p:cNvSpPr/>
          <p:nvPr/>
        </p:nvSpPr>
        <p:spPr>
          <a:xfrm>
            <a:off x="11292840" y="6537960"/>
            <a:ext cx="128016" cy="128016"/>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146304" cy="6858000"/>
          </a:xfrm>
          <a:prstGeom prst="rect">
            <a:avLst/>
          </a:prstGeom>
          <a:solidFill>
            <a:srgbClr val="D630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0"/>
            <a:ext cx="12192000"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 0"/>
          <p:cNvSpPr/>
          <p:nvPr/>
        </p:nvSpPr>
        <p:spPr>
          <a:xfrm>
            <a:off x="502920" y="201168"/>
            <a:ext cx="7680960" cy="411480"/>
          </a:xfrm>
          <a:prstGeom prst="rect">
            <a:avLst/>
          </a:prstGeom>
          <a:noFill/>
          <a:ln/>
        </p:spPr>
        <p:txBody>
          <a:bodyPr wrap="square" lIns="18288" tIns="9144" rIns="18288" bIns="9144" rtlCol="0" anchor="ctr"/>
          <a:lstStyle/>
          <a:p>
            <a:pPr marL="0" indent="0">
              <a:buNone/>
            </a:pPr>
            <a:r>
              <a:rPr lang="en-US" sz="2700" b="1" dirty="0">
                <a:solidFill>
                  <a:srgbClr val="0B1F33"/>
                </a:solidFill>
                <a:latin typeface="Aptos"/>
              </a:rPr>
              <a:t>Fortinet security integration</a:t>
            </a:r>
            <a:endParaRPr lang="en-US" sz="2400" dirty="0"/>
          </a:p>
        </p:txBody>
      </p:sp>
      <p:sp>
        <p:nvSpPr>
          <p:cNvPr id="3" name="Text 1"/>
          <p:cNvSpPr/>
          <p:nvPr/>
        </p:nvSpPr>
        <p:spPr>
          <a:xfrm>
            <a:off x="530352" y="667512"/>
            <a:ext cx="7772400" cy="228600"/>
          </a:xfrm>
          <a:prstGeom prst="rect">
            <a:avLst/>
          </a:prstGeom>
          <a:noFill/>
          <a:ln/>
        </p:spPr>
        <p:txBody>
          <a:bodyPr wrap="square" lIns="18288" tIns="9144" rIns="18288" bIns="9144" rtlCol="0" anchor="ctr"/>
          <a:lstStyle/>
          <a:p>
            <a:pPr marL="0" indent="0">
              <a:buNone/>
            </a:pPr>
            <a:r>
              <a:rPr lang="en-US" sz="1350" dirty="0" b="0">
                <a:solidFill>
                  <a:srgbClr val="607082"/>
                </a:solidFill>
                <a:latin typeface="Aptos"/>
              </a:rPr>
              <a:t>Firewall and VPN controls for the multi-cloud design</a:t>
            </a:r>
            <a:endParaRPr lang="en-US" sz="1050" dirty="0"/>
          </a:p>
        </p:txBody>
      </p:sp>
      <p:sp>
        <p:nvSpPr>
          <p:cNvPr id="4" name="Text 2"/>
          <p:cNvSpPr/>
          <p:nvPr/>
        </p:nvSpPr>
        <p:spPr>
          <a:xfrm>
            <a:off x="9372600" y="310896"/>
            <a:ext cx="2057400" cy="256032"/>
          </a:xfrm>
          <a:prstGeom prst="rect">
            <a:avLst/>
          </a:prstGeom>
          <a:solidFill>
            <a:srgbClr val="D63031"/>
          </a:solidFill>
          <a:ln>
            <a:noFill/>
          </a:ln>
        </p:spPr>
        <p:txBody>
          <a:bodyPr wrap="square" lIns="18288" tIns="9144" rIns="18288" bIns="9144" rtlCol="0" anchor="ctr"/>
          <a:lstStyle/>
          <a:p>
            <a:pPr marL="0" indent="0" algn="ctr">
              <a:buNone/>
            </a:pPr>
            <a:r>
              <a:rPr lang="en-US" sz="950" b="1" dirty="0">
                <a:solidFill>
                  <a:srgbClr val="FFFFFF"/>
                </a:solidFill>
                <a:latin typeface="Aptos"/>
              </a:rPr>
              <a:t>Fortinet</a:t>
            </a:r>
            <a:endParaRPr lang="en-US" sz="850" dirty="0"/>
          </a:p>
        </p:txBody>
      </p:sp>
      <p:pic>
        <p:nvPicPr>
          <p:cNvPr id="5" name="Image 0" descr="/mnt/data/ppt_assets/fortinet.png"/>
          <p:cNvPicPr>
            <a:picLocks noChangeAspect="1"/>
          </p:cNvPicPr>
          <p:nvPr/>
        </p:nvPicPr>
        <p:blipFill>
          <a:blip r:embed="rId3"/>
          <a:stretch>
            <a:fillRect/>
          </a:stretch>
        </p:blipFill>
        <p:spPr>
          <a:xfrm>
            <a:off x="6492240" y="1277572"/>
            <a:ext cx="4754880" cy="4485736"/>
          </a:xfrm>
          <a:prstGeom prst="rect">
            <a:avLst/>
          </a:prstGeom>
          <a:ln w="12700">
            <a:solidFill>
              <a:srgbClr val="D2DCE6"/>
            </a:solidFill>
          </a:ln>
        </p:spPr>
      </p:pic>
      <p:sp>
        <p:nvSpPr>
          <p:cNvPr id="6" name="Text 3"/>
          <p:cNvSpPr/>
          <p:nvPr/>
        </p:nvSpPr>
        <p:spPr>
          <a:xfrm>
            <a:off x="685800" y="1143000"/>
            <a:ext cx="5486400" cy="4251960"/>
          </a:xfrm>
          <a:prstGeom prst="rect">
            <a:avLst/>
          </a:prstGeom>
          <a:noFill/>
          <a:ln/>
        </p:spPr>
        <p:txBody>
          <a:bodyPr wrap="square" lIns="18288" tIns="9144" rIns="18288" bIns="9144" rtlCol="0" anchor="ctr">
            <a:normAutofit/>
          </a:bodyPr>
          <a:lstStyle/>
          <a:p>
            <a:r>
              <a:rPr lang="en-US" sz="1600" dirty="0" b="0">
                <a:solidFill>
                  <a:srgbClr val="233040"/>
                </a:solidFill>
                <a:latin typeface="Aptos"/>
              </a:rPr>
              <a:t>FortiGate was included as the main firewall/security component</a:t>
            </a:r>
            <a:endParaRPr lang="en-US" sz="1600" dirty="0"/>
          </a:p>
          <a:p>
            <a:r>
              <a:rPr lang="en-US" sz="1600" dirty="0" b="0">
                <a:solidFill>
                  <a:srgbClr val="233040"/>
                </a:solidFill>
                <a:latin typeface="Aptos"/>
              </a:rPr>
              <a:t>VPN and firewall policies helped control traffic paths</a:t>
            </a:r>
            <a:endParaRPr lang="en-US" sz="1600" dirty="0"/>
          </a:p>
          <a:p>
            <a:r>
              <a:rPr lang="en-US" sz="1600" dirty="0" b="0">
                <a:solidFill>
                  <a:srgbClr val="233040"/>
                </a:solidFill>
                <a:latin typeface="Aptos"/>
              </a:rPr>
              <a:t>Fortinet evidence supports the multi-cloud security requirement</a:t>
            </a:r>
            <a:endParaRPr lang="en-US" sz="1600" dirty="0"/>
          </a:p>
          <a:p>
            <a:r>
              <a:rPr lang="en-US" sz="1600" dirty="0" b="0">
                <a:solidFill>
                  <a:srgbClr val="233040"/>
                </a:solidFill>
                <a:latin typeface="Aptos"/>
              </a:rPr>
              <a:t>The project considered logging and traffic control as part of incident review</a:t>
            </a:r>
            <a:endParaRPr lang="en-US" sz="1600" dirty="0"/>
          </a:p>
        </p:txBody>
      </p:sp>
      <p:sp>
        <p:nvSpPr>
          <p:cNvPr id="9" name="Rectangle 8"/>
          <p:cNvSpPr/>
          <p:nvPr/>
        </p:nvSpPr>
        <p:spPr>
          <a:xfrm>
            <a:off x="502920" y="960120"/>
            <a:ext cx="10881360" cy="22860"/>
          </a:xfrm>
          <a:prstGeom prst="rect">
            <a:avLst/>
          </a:prstGeom>
          <a:solidFill>
            <a:srgbClr val="D630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565392"/>
            <a:ext cx="10972800" cy="164592"/>
          </a:xfrm>
          <a:prstGeom prst="rect">
            <a:avLst/>
          </a:prstGeom>
          <a:noFill/>
        </p:spPr>
        <p:txBody>
          <a:bodyPr wrap="none">
            <a:spAutoFit/>
          </a:bodyPr>
          <a:lstStyle/>
          <a:p>
            <a:pPr algn="l"/>
            <a:r>
              <a:rPr sz="750">
                <a:solidFill>
                  <a:srgbClr val="607082"/>
                </a:solidFill>
                <a:latin typeface="Aptos"/>
              </a:rPr>
              <a:t>CCC604 Assessment 8  |  Multi-Cloud Security Integration  |  18</a:t>
            </a:r>
          </a:p>
        </p:txBody>
      </p:sp>
      <p:sp>
        <p:nvSpPr>
          <p:cNvPr id="11" name="Oval 10"/>
          <p:cNvSpPr/>
          <p:nvPr/>
        </p:nvSpPr>
        <p:spPr>
          <a:xfrm>
            <a:off x="11292840" y="6537960"/>
            <a:ext cx="128016" cy="128016"/>
          </a:xfrm>
          <a:prstGeom prst="ellipse">
            <a:avLst/>
          </a:prstGeom>
          <a:solidFill>
            <a:srgbClr val="D630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1005840"/>
            <a:ext cx="1097280" cy="45720"/>
          </a:xfrm>
          <a:prstGeom prst="rect">
            <a:avLst/>
          </a:prstGeom>
          <a:solidFill>
            <a:srgbClr val="D630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146304" cy="6858000"/>
          </a:xfrm>
          <a:prstGeom prst="rect">
            <a:avLst/>
          </a:prstGeom>
          <a:solidFill>
            <a:srgbClr val="D630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0"/>
            <a:ext cx="12192000"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 0"/>
          <p:cNvSpPr/>
          <p:nvPr/>
        </p:nvSpPr>
        <p:spPr>
          <a:xfrm>
            <a:off x="502920" y="201168"/>
            <a:ext cx="7680960" cy="411480"/>
          </a:xfrm>
          <a:prstGeom prst="rect">
            <a:avLst/>
          </a:prstGeom>
          <a:noFill/>
          <a:ln/>
        </p:spPr>
        <p:txBody>
          <a:bodyPr wrap="square" lIns="18288" tIns="9144" rIns="18288" bIns="9144" rtlCol="0" anchor="ctr"/>
          <a:lstStyle/>
          <a:p>
            <a:pPr marL="0" indent="0">
              <a:buNone/>
            </a:pPr>
            <a:r>
              <a:rPr lang="en-US" sz="2700" b="1" dirty="0">
                <a:solidFill>
                  <a:srgbClr val="0B1F33"/>
                </a:solidFill>
                <a:latin typeface="Aptos"/>
              </a:rPr>
              <a:t>Multi-cloud integration summary</a:t>
            </a:r>
            <a:endParaRPr lang="en-US" sz="2400" dirty="0"/>
          </a:p>
        </p:txBody>
      </p:sp>
      <p:sp>
        <p:nvSpPr>
          <p:cNvPr id="3" name="Text 1"/>
          <p:cNvSpPr/>
          <p:nvPr/>
        </p:nvSpPr>
        <p:spPr>
          <a:xfrm>
            <a:off x="530352" y="667512"/>
            <a:ext cx="7772400" cy="228600"/>
          </a:xfrm>
          <a:prstGeom prst="rect">
            <a:avLst/>
          </a:prstGeom>
          <a:noFill/>
          <a:ln/>
        </p:spPr>
        <p:txBody>
          <a:bodyPr wrap="square" lIns="18288" tIns="9144" rIns="18288" bIns="9144" rtlCol="0" anchor="ctr"/>
          <a:lstStyle/>
          <a:p>
            <a:pPr marL="0" indent="0">
              <a:buNone/>
            </a:pPr>
            <a:r>
              <a:rPr lang="en-US" sz="1350" dirty="0" b="0">
                <a:solidFill>
                  <a:srgbClr val="607082"/>
                </a:solidFill>
                <a:latin typeface="Aptos"/>
              </a:rPr>
              <a:t>How the separate platforms worked as one design</a:t>
            </a:r>
            <a:endParaRPr lang="en-US" sz="1050" dirty="0"/>
          </a:p>
        </p:txBody>
      </p:sp>
      <p:sp>
        <p:nvSpPr>
          <p:cNvPr id="4" name="Text 2"/>
          <p:cNvSpPr/>
          <p:nvPr/>
        </p:nvSpPr>
        <p:spPr>
          <a:xfrm>
            <a:off x="9372600" y="310896"/>
            <a:ext cx="2057400" cy="256032"/>
          </a:xfrm>
          <a:prstGeom prst="rect">
            <a:avLst/>
          </a:prstGeom>
          <a:solidFill>
            <a:srgbClr val="D63031"/>
          </a:solidFill>
          <a:ln>
            <a:noFill/>
          </a:ln>
        </p:spPr>
        <p:txBody>
          <a:bodyPr wrap="square" lIns="18288" tIns="9144" rIns="18288" bIns="9144" rtlCol="0" anchor="ctr"/>
          <a:lstStyle/>
          <a:p>
            <a:pPr marL="0" indent="0" algn="ctr">
              <a:buNone/>
            </a:pPr>
            <a:r>
              <a:rPr lang="en-US" sz="950" b="1" dirty="0">
                <a:solidFill>
                  <a:srgbClr val="FFFFFF"/>
                </a:solidFill>
                <a:latin typeface="Aptos"/>
              </a:rPr>
              <a:t>Integration</a:t>
            </a:r>
            <a:endParaRPr lang="en-US" sz="850" dirty="0"/>
          </a:p>
        </p:txBody>
      </p:sp>
      <p:pic>
        <p:nvPicPr>
          <p:cNvPr id="5" name="Image 0" descr="/mnt/data/ppt_assets/partc.png"/>
          <p:cNvPicPr>
            <a:picLocks noChangeAspect="1"/>
          </p:cNvPicPr>
          <p:nvPr/>
        </p:nvPicPr>
        <p:blipFill>
          <a:blip r:embed="rId3"/>
          <a:stretch>
            <a:fillRect/>
          </a:stretch>
        </p:blipFill>
        <p:spPr>
          <a:xfrm>
            <a:off x="6978565" y="914400"/>
            <a:ext cx="4056549" cy="5166360"/>
          </a:xfrm>
          <a:prstGeom prst="rect">
            <a:avLst/>
          </a:prstGeom>
          <a:ln w="12700">
            <a:solidFill>
              <a:srgbClr val="D2DCE6"/>
            </a:solidFill>
          </a:ln>
        </p:spPr>
      </p:pic>
      <p:sp>
        <p:nvSpPr>
          <p:cNvPr id="6" name="Text 3"/>
          <p:cNvSpPr/>
          <p:nvPr/>
        </p:nvSpPr>
        <p:spPr>
          <a:xfrm>
            <a:off x="530352" y="667512"/>
            <a:ext cx="7772400" cy="228600"/>
          </a:xfrm>
          <a:prstGeom prst="rect">
            <a:avLst/>
          </a:prstGeom>
          <a:noFill/>
          <a:ln/>
        </p:spPr>
        <p:txBody>
          <a:bodyPr wrap="square" lIns="18288" tIns="9144" rIns="18288" bIns="9144" rtlCol="0" anchor="ctr">
            <a:normAutofit/>
          </a:bodyPr>
          <a:lstStyle/>
          <a:p>
            <a:r>
              <a:rPr lang="en-US" sz="1350" dirty="0" b="0">
                <a:solidFill>
                  <a:srgbClr val="607082"/>
                </a:solidFill>
                <a:latin typeface="Aptos"/>
              </a:rPr>
              <a:t>AWS hosted WordPress, RDS, monitoring, backup and load balancing</a:t>
            </a:r>
            <a:endParaRPr lang="en-US" sz="1540" dirty="0"/>
          </a:p>
          <a:p>
            <a:r>
              <a:rPr lang="en-US" sz="1350" dirty="0" b="0">
                <a:solidFill>
                  <a:srgbClr val="607082"/>
                </a:solidFill>
                <a:latin typeface="Aptos"/>
              </a:rPr>
              <a:t>Azure provided identity controls, DNS and external access testing</a:t>
            </a:r>
            <a:endParaRPr lang="en-US" sz="1540" dirty="0"/>
          </a:p>
          <a:p>
            <a:r>
              <a:rPr lang="en-US" sz="1350" dirty="0" b="0">
                <a:solidFill>
                  <a:srgbClr val="607082"/>
                </a:solidFill>
                <a:latin typeface="Aptos"/>
              </a:rPr>
              <a:t>FortiGate supported firewall/VPN controls and traffic security</a:t>
            </a:r>
            <a:endParaRPr lang="en-US" sz="1540" dirty="0"/>
          </a:p>
          <a:p>
            <a:r>
              <a:rPr lang="en-US" sz="1350" dirty="0" b="0">
                <a:solidFill>
                  <a:srgbClr val="607082"/>
                </a:solidFill>
                <a:latin typeface="Aptos"/>
              </a:rPr>
              <a:t>Evidence is spread across separate consoles because the platforms are separate</a:t>
            </a:r>
            <a:endParaRPr lang="en-US" sz="1540" dirty="0"/>
          </a:p>
          <a:p>
            <a:r>
              <a:rPr lang="en-US" sz="1350" dirty="0" b="0">
                <a:solidFill>
                  <a:srgbClr val="607082"/>
                </a:solidFill>
                <a:latin typeface="Aptos"/>
              </a:rPr>
              <a:t>The final design linked access control, DNS, monitoring, backup and security together</a:t>
            </a:r>
            <a:endParaRPr lang="en-US" sz="1540" dirty="0"/>
          </a:p>
        </p:txBody>
      </p:sp>
      <p:sp>
        <p:nvSpPr>
          <p:cNvPr id="9" name="Rectangle 8"/>
          <p:cNvSpPr/>
          <p:nvPr/>
        </p:nvSpPr>
        <p:spPr>
          <a:xfrm>
            <a:off x="502920" y="960120"/>
            <a:ext cx="10881360" cy="22860"/>
          </a:xfrm>
          <a:prstGeom prst="rect">
            <a:avLst/>
          </a:prstGeom>
          <a:solidFill>
            <a:srgbClr val="D630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565392"/>
            <a:ext cx="10972800" cy="164592"/>
          </a:xfrm>
          <a:prstGeom prst="rect">
            <a:avLst/>
          </a:prstGeom>
          <a:noFill/>
        </p:spPr>
        <p:txBody>
          <a:bodyPr wrap="none">
            <a:spAutoFit/>
          </a:bodyPr>
          <a:lstStyle/>
          <a:p>
            <a:pPr algn="l"/>
            <a:r>
              <a:rPr sz="750">
                <a:solidFill>
                  <a:srgbClr val="607082"/>
                </a:solidFill>
                <a:latin typeface="Aptos"/>
              </a:rPr>
              <a:t>CCC604 Assessment 8  |  Multi-Cloud Security Integration  |  19</a:t>
            </a:r>
          </a:p>
        </p:txBody>
      </p:sp>
      <p:sp>
        <p:nvSpPr>
          <p:cNvPr id="11" name="Oval 10"/>
          <p:cNvSpPr/>
          <p:nvPr/>
        </p:nvSpPr>
        <p:spPr>
          <a:xfrm>
            <a:off x="11292840" y="6537960"/>
            <a:ext cx="128016" cy="128016"/>
          </a:xfrm>
          <a:prstGeom prst="ellipse">
            <a:avLst/>
          </a:prstGeom>
          <a:solidFill>
            <a:srgbClr val="D630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p:cNvSpPr/>
          <p:nvPr/>
        </p:nvSpPr>
        <p:spPr>
          <a:xfrm>
            <a:off x="0" y="0"/>
            <a:ext cx="146304" cy="6858000"/>
          </a:xfrm>
          <a:prstGeom prst="rect">
            <a:avLst/>
          </a:prstGeom>
          <a:solidFill>
            <a:srgbClr val="D630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0"/>
            <a:ext cx="12192000"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 0"/>
          <p:cNvSpPr/>
          <p:nvPr/>
        </p:nvSpPr>
        <p:spPr>
          <a:xfrm>
            <a:off x="502920" y="201168"/>
            <a:ext cx="7680960" cy="411480"/>
          </a:xfrm>
          <a:prstGeom prst="rect">
            <a:avLst/>
          </a:prstGeom>
          <a:noFill/>
          <a:ln/>
        </p:spPr>
        <p:txBody>
          <a:bodyPr wrap="square" lIns="18288" tIns="9144" rIns="18288" bIns="9144" rtlCol="0" anchor="ctr"/>
          <a:lstStyle/>
          <a:p>
            <a:pPr marL="0" indent="0">
              <a:buNone/>
            </a:pPr>
            <a:r>
              <a:rPr lang="en-US" sz="2700" b="1" dirty="0">
                <a:solidFill>
                  <a:srgbClr val="0B1F33"/>
                </a:solidFill>
                <a:latin typeface="Aptos"/>
              </a:rPr>
              <a:t>Security control mapping</a:t>
            </a:r>
            <a:endParaRPr lang="en-US" sz="2400" dirty="0"/>
          </a:p>
        </p:txBody>
      </p:sp>
      <p:sp>
        <p:nvSpPr>
          <p:cNvPr id="3" name="Text 1"/>
          <p:cNvSpPr/>
          <p:nvPr/>
        </p:nvSpPr>
        <p:spPr>
          <a:xfrm>
            <a:off x="530352" y="667512"/>
            <a:ext cx="7772400" cy="228600"/>
          </a:xfrm>
          <a:prstGeom prst="rect">
            <a:avLst/>
          </a:prstGeom>
          <a:noFill/>
          <a:ln/>
        </p:spPr>
        <p:txBody>
          <a:bodyPr wrap="square" lIns="18288" tIns="9144" rIns="18288" bIns="9144" rtlCol="0" anchor="ctr"/>
          <a:lstStyle/>
          <a:p>
            <a:pPr marL="0" indent="0">
              <a:buNone/>
            </a:pPr>
            <a:r>
              <a:rPr lang="en-US" sz="1350" dirty="0" b="0">
                <a:solidFill>
                  <a:srgbClr val="607082"/>
                </a:solidFill>
                <a:latin typeface="Aptos"/>
              </a:rPr>
              <a:t>Controls applied across AWS, Azure and Fortinet</a:t>
            </a:r>
            <a:endParaRPr lang="en-US" sz="1050" dirty="0"/>
          </a:p>
        </p:txBody>
      </p:sp>
      <p:sp>
        <p:nvSpPr>
          <p:cNvPr id="4" name="Text 2"/>
          <p:cNvSpPr/>
          <p:nvPr/>
        </p:nvSpPr>
        <p:spPr>
          <a:xfrm>
            <a:off x="9372600" y="310896"/>
            <a:ext cx="2057400" cy="256032"/>
          </a:xfrm>
          <a:prstGeom prst="rect">
            <a:avLst/>
          </a:prstGeom>
          <a:solidFill>
            <a:srgbClr val="D63031"/>
          </a:solidFill>
          <a:ln>
            <a:noFill/>
          </a:ln>
        </p:spPr>
        <p:txBody>
          <a:bodyPr wrap="square" lIns="18288" tIns="9144" rIns="18288" bIns="9144" rtlCol="0" anchor="ctr"/>
          <a:lstStyle/>
          <a:p>
            <a:pPr marL="0" indent="0" algn="ctr">
              <a:buNone/>
            </a:pPr>
            <a:r>
              <a:rPr lang="en-US" sz="950" b="1" dirty="0">
                <a:solidFill>
                  <a:srgbClr val="FFFFFF"/>
                </a:solidFill>
                <a:latin typeface="Aptos"/>
              </a:rPr>
              <a:t>Security integration</a:t>
            </a:r>
            <a:endParaRPr lang="en-US" sz="850" dirty="0"/>
          </a:p>
        </p:txBody>
      </p:sp>
      <p:sp>
        <p:nvSpPr>
          <p:cNvPr id="5" name="Text 3"/>
          <p:cNvSpPr/>
          <p:nvPr/>
        </p:nvSpPr>
        <p:spPr>
          <a:xfrm>
            <a:off x="731520" y="1051560"/>
            <a:ext cx="2926080" cy="201168"/>
          </a:xfrm>
          <a:prstGeom prst="rect">
            <a:avLst/>
          </a:prstGeom>
          <a:noFill/>
          <a:ln/>
        </p:spPr>
        <p:txBody>
          <a:bodyPr wrap="square" lIns="18288" tIns="9144" rIns="18288" bIns="9144" rtlCol="0" anchor="ctr">
            <a:normAutofit/>
          </a:bodyPr>
          <a:lstStyle/>
          <a:p>
            <a:pPr marL="0" indent="0">
              <a:buNone/>
            </a:pPr>
            <a:r>
              <a:rPr lang="en-US" sz="1200" b="1" dirty="0">
                <a:solidFill>
                  <a:srgbClr val="D63031"/>
                </a:solidFill>
                <a:latin typeface="Aptos"/>
              </a:rPr>
              <a:t>AWS</a:t>
            </a:r>
            <a:endParaRPr lang="en-US" sz="850" dirty="0"/>
          </a:p>
        </p:txBody>
      </p:sp>
      <p:sp>
        <p:nvSpPr>
          <p:cNvPr id="6" name="Text 4"/>
          <p:cNvSpPr/>
          <p:nvPr/>
        </p:nvSpPr>
        <p:spPr>
          <a:xfrm>
            <a:off x="731520" y="1353312"/>
            <a:ext cx="3200400" cy="3931920"/>
          </a:xfrm>
          <a:prstGeom prst="rect">
            <a:avLst/>
          </a:prstGeom>
          <a:noFill/>
          <a:ln/>
        </p:spPr>
        <p:txBody>
          <a:bodyPr wrap="square" lIns="18288" tIns="9144" rIns="18288" bIns="9144" rtlCol="0" anchor="ctr">
            <a:normAutofit/>
          </a:bodyPr>
          <a:lstStyle/>
          <a:p>
            <a:r>
              <a:rPr lang="en-US" sz="1800" dirty="0" b="0">
                <a:solidFill>
                  <a:srgbClr val="233040"/>
                </a:solidFill>
                <a:latin typeface="Aptos"/>
              </a:rPr>
              <a:t>VPC and subnet separation</a:t>
            </a:r>
            <a:endParaRPr lang="en-US" sz="1380" dirty="0"/>
          </a:p>
          <a:p>
            <a:r>
              <a:rPr lang="en-US" sz="1800" dirty="0" b="0">
                <a:solidFill>
                  <a:srgbClr val="233040"/>
                </a:solidFill>
                <a:latin typeface="Aptos"/>
              </a:rPr>
              <a:t>Security Groups and IAM roles</a:t>
            </a:r>
            <a:endParaRPr lang="en-US" sz="1380" dirty="0"/>
          </a:p>
          <a:p>
            <a:r>
              <a:rPr lang="en-US" sz="1800" dirty="0" b="0">
                <a:solidFill>
                  <a:srgbClr val="233040"/>
                </a:solidFill>
                <a:latin typeface="Aptos"/>
              </a:rPr>
              <a:t>CloudWatch, CloudTrail, SNS</a:t>
            </a:r>
            <a:endParaRPr lang="en-US" sz="1380" dirty="0"/>
          </a:p>
          <a:p>
            <a:r>
              <a:rPr lang="en-US" sz="1800" dirty="0" b="0">
                <a:solidFill>
                  <a:srgbClr val="233040"/>
                </a:solidFill>
                <a:latin typeface="Aptos"/>
              </a:rPr>
              <a:t>S3/RDS encryption and snapshots</a:t>
            </a:r>
            <a:endParaRPr lang="en-US" sz="1380" dirty="0"/>
          </a:p>
        </p:txBody>
      </p:sp>
      <p:sp>
        <p:nvSpPr>
          <p:cNvPr id="7" name="Text 5"/>
          <p:cNvSpPr/>
          <p:nvPr/>
        </p:nvSpPr>
        <p:spPr>
          <a:xfrm>
            <a:off x="4434840" y="1051560"/>
            <a:ext cx="2926080" cy="201168"/>
          </a:xfrm>
          <a:prstGeom prst="rect">
            <a:avLst/>
          </a:prstGeom>
          <a:noFill/>
          <a:ln/>
        </p:spPr>
        <p:txBody>
          <a:bodyPr wrap="square" lIns="18288" tIns="9144" rIns="18288" bIns="9144" rtlCol="0" anchor="ctr">
            <a:normAutofit/>
          </a:bodyPr>
          <a:lstStyle/>
          <a:p>
            <a:pPr marL="0" indent="0">
              <a:buNone/>
            </a:pPr>
            <a:r>
              <a:rPr lang="en-US" sz="1200" b="1" dirty="0">
                <a:solidFill>
                  <a:srgbClr val="D63031"/>
                </a:solidFill>
                <a:latin typeface="Aptos"/>
              </a:rPr>
              <a:t>AZURE</a:t>
            </a:r>
            <a:endParaRPr lang="en-US" sz="850" dirty="0"/>
          </a:p>
        </p:txBody>
      </p:sp>
      <p:sp>
        <p:nvSpPr>
          <p:cNvPr id="8" name="Text 6"/>
          <p:cNvSpPr/>
          <p:nvPr/>
        </p:nvSpPr>
        <p:spPr>
          <a:xfrm>
            <a:off x="4434840" y="1353312"/>
            <a:ext cx="3200400" cy="3931920"/>
          </a:xfrm>
          <a:prstGeom prst="rect">
            <a:avLst/>
          </a:prstGeom>
          <a:noFill/>
          <a:ln/>
        </p:spPr>
        <p:txBody>
          <a:bodyPr wrap="square" lIns="18288" tIns="9144" rIns="18288" bIns="9144" rtlCol="0" anchor="ctr">
            <a:normAutofit/>
          </a:bodyPr>
          <a:lstStyle/>
          <a:p>
            <a:r>
              <a:rPr lang="en-US" sz="1800" dirty="0" b="0">
                <a:solidFill>
                  <a:srgbClr val="233040"/>
                </a:solidFill>
                <a:latin typeface="Aptos"/>
              </a:rPr>
              <a:t>Azure AD tenant</a:t>
            </a:r>
            <a:endParaRPr lang="en-US" sz="1380" dirty="0"/>
          </a:p>
          <a:p>
            <a:r>
              <a:rPr lang="en-US" sz="1800" dirty="0" b="0">
                <a:solidFill>
                  <a:srgbClr val="233040"/>
                </a:solidFill>
                <a:latin typeface="Aptos"/>
              </a:rPr>
              <a:t>RBAC and MFA</a:t>
            </a:r>
            <a:endParaRPr lang="en-US" sz="1380" dirty="0"/>
          </a:p>
          <a:p>
            <a:r>
              <a:rPr lang="en-US" sz="1800" dirty="0" b="0">
                <a:solidFill>
                  <a:srgbClr val="233040"/>
                </a:solidFill>
                <a:latin typeface="Aptos"/>
              </a:rPr>
              <a:t>Azure DNS records</a:t>
            </a:r>
            <a:endParaRPr lang="en-US" sz="1380" dirty="0"/>
          </a:p>
          <a:p>
            <a:r>
              <a:rPr lang="en-US" sz="1800" dirty="0" b="0">
                <a:solidFill>
                  <a:srgbClr val="233040"/>
                </a:solidFill>
                <a:latin typeface="Aptos"/>
              </a:rPr>
              <a:t>HTTPS/VPN testing</a:t>
            </a:r>
            <a:endParaRPr lang="en-US" sz="1380" dirty="0"/>
          </a:p>
        </p:txBody>
      </p:sp>
      <p:sp>
        <p:nvSpPr>
          <p:cNvPr id="9" name="Text 7"/>
          <p:cNvSpPr/>
          <p:nvPr/>
        </p:nvSpPr>
        <p:spPr>
          <a:xfrm>
            <a:off x="8138160" y="1051560"/>
            <a:ext cx="2926080" cy="201168"/>
          </a:xfrm>
          <a:prstGeom prst="rect">
            <a:avLst/>
          </a:prstGeom>
          <a:noFill/>
          <a:ln/>
        </p:spPr>
        <p:txBody>
          <a:bodyPr wrap="square" lIns="18288" tIns="9144" rIns="18288" bIns="9144" rtlCol="0" anchor="ctr">
            <a:normAutofit/>
          </a:bodyPr>
          <a:lstStyle/>
          <a:p>
            <a:pPr marL="0" indent="0">
              <a:buNone/>
            </a:pPr>
            <a:r>
              <a:rPr lang="en-US" sz="1200" b="1" dirty="0">
                <a:solidFill>
                  <a:srgbClr val="D63031"/>
                </a:solidFill>
                <a:latin typeface="Aptos"/>
              </a:rPr>
              <a:t>FORTINET</a:t>
            </a:r>
            <a:endParaRPr lang="en-US" sz="850" dirty="0"/>
          </a:p>
        </p:txBody>
      </p:sp>
      <p:sp>
        <p:nvSpPr>
          <p:cNvPr id="10" name="Text 8"/>
          <p:cNvSpPr/>
          <p:nvPr/>
        </p:nvSpPr>
        <p:spPr>
          <a:xfrm>
            <a:off x="8138160" y="1353312"/>
            <a:ext cx="3200400" cy="3931920"/>
          </a:xfrm>
          <a:prstGeom prst="rect">
            <a:avLst/>
          </a:prstGeom>
          <a:noFill/>
          <a:ln/>
        </p:spPr>
        <p:txBody>
          <a:bodyPr wrap="square" lIns="18288" tIns="9144" rIns="18288" bIns="9144" rtlCol="0" anchor="ctr">
            <a:normAutofit/>
          </a:bodyPr>
          <a:lstStyle/>
          <a:p>
            <a:r>
              <a:rPr lang="en-US" sz="1800" dirty="0" b="0">
                <a:solidFill>
                  <a:srgbClr val="233040"/>
                </a:solidFill>
                <a:latin typeface="Aptos"/>
              </a:rPr>
              <a:t>FortiGate firewall/VPN</a:t>
            </a:r>
            <a:endParaRPr lang="en-US" sz="1380" dirty="0"/>
          </a:p>
          <a:p>
            <a:r>
              <a:rPr lang="en-US" sz="1800" dirty="0" b="0">
                <a:solidFill>
                  <a:srgbClr val="233040"/>
                </a:solidFill>
                <a:latin typeface="Aptos"/>
              </a:rPr>
              <a:t>Traffic control policies</a:t>
            </a:r>
            <a:endParaRPr lang="en-US" sz="1380" dirty="0"/>
          </a:p>
          <a:p>
            <a:r>
              <a:rPr lang="en-US" sz="1800" dirty="0" b="0">
                <a:solidFill>
                  <a:srgbClr val="233040"/>
                </a:solidFill>
                <a:latin typeface="Aptos"/>
              </a:rPr>
              <a:t>Logging review</a:t>
            </a:r>
            <a:endParaRPr lang="en-US" sz="1380" dirty="0"/>
          </a:p>
          <a:p>
            <a:r>
              <a:rPr lang="en-US" sz="1800" dirty="0" b="0">
                <a:solidFill>
                  <a:srgbClr val="233040"/>
                </a:solidFill>
                <a:latin typeface="Aptos"/>
              </a:rPr>
              <a:t>Secure access path</a:t>
            </a:r>
            <a:endParaRPr lang="en-US" sz="1380" dirty="0"/>
          </a:p>
        </p:txBody>
      </p:sp>
      <p:sp>
        <p:nvSpPr>
          <p:cNvPr id="11" name="Text 9"/>
          <p:cNvSpPr/>
          <p:nvPr/>
        </p:nvSpPr>
        <p:spPr>
          <a:xfrm>
            <a:off x="777240" y="5806440"/>
            <a:ext cx="10698480" cy="274320"/>
          </a:xfrm>
          <a:prstGeom prst="rect">
            <a:avLst/>
          </a:prstGeom>
          <a:noFill/>
          <a:ln/>
        </p:spPr>
        <p:txBody>
          <a:bodyPr wrap="square" lIns="18288" tIns="9144" rIns="18288" bIns="9144" rtlCol="0" anchor="ctr"/>
          <a:lstStyle/>
          <a:p>
            <a:pPr marL="0" indent="0" algn="ctr">
              <a:buNone/>
            </a:pPr>
            <a:r>
              <a:rPr lang="en-US" sz="1800" b="0" dirty="0">
                <a:solidFill>
                  <a:srgbClr val="233040"/>
                </a:solidFill>
                <a:latin typeface="Aptos"/>
              </a:rPr>
              <a:t>Key message: the security design used layered controls instead of depending on one product or one cloud.</a:t>
            </a:r>
            <a:endParaRPr lang="en-US" sz="1500" dirty="0"/>
          </a:p>
        </p:txBody>
      </p:sp>
      <p:sp>
        <p:nvSpPr>
          <p:cNvPr id="14" name="Rectangle 13"/>
          <p:cNvSpPr/>
          <p:nvPr/>
        </p:nvSpPr>
        <p:spPr>
          <a:xfrm>
            <a:off x="502920" y="960120"/>
            <a:ext cx="10881360" cy="22860"/>
          </a:xfrm>
          <a:prstGeom prst="rect">
            <a:avLst/>
          </a:prstGeom>
          <a:solidFill>
            <a:srgbClr val="D630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6565392"/>
            <a:ext cx="10972800" cy="164592"/>
          </a:xfrm>
          <a:prstGeom prst="rect">
            <a:avLst/>
          </a:prstGeom>
          <a:noFill/>
        </p:spPr>
        <p:txBody>
          <a:bodyPr wrap="none">
            <a:spAutoFit/>
          </a:bodyPr>
          <a:lstStyle/>
          <a:p>
            <a:pPr algn="l"/>
            <a:r>
              <a:rPr sz="750">
                <a:solidFill>
                  <a:srgbClr val="607082"/>
                </a:solidFill>
                <a:latin typeface="Aptos"/>
              </a:rPr>
              <a:t>CCC604 Assessment 8  |  Multi-Cloud Security Integration  |  20</a:t>
            </a:r>
          </a:p>
        </p:txBody>
      </p:sp>
      <p:sp>
        <p:nvSpPr>
          <p:cNvPr id="16" name="Oval 15"/>
          <p:cNvSpPr/>
          <p:nvPr/>
        </p:nvSpPr>
        <p:spPr>
          <a:xfrm>
            <a:off x="11292840" y="6537960"/>
            <a:ext cx="128016" cy="128016"/>
          </a:xfrm>
          <a:prstGeom prst="ellipse">
            <a:avLst/>
          </a:prstGeom>
          <a:solidFill>
            <a:srgbClr val="D630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146304" cy="6858000"/>
          </a:xfrm>
          <a:prstGeom prst="rect">
            <a:avLst/>
          </a:prstGeom>
          <a:solidFill>
            <a:srgbClr val="6D4C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0"/>
            <a:ext cx="12192000"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 0"/>
          <p:cNvSpPr/>
          <p:nvPr/>
        </p:nvSpPr>
        <p:spPr>
          <a:xfrm>
            <a:off x="502920" y="201168"/>
            <a:ext cx="7680960" cy="411480"/>
          </a:xfrm>
          <a:prstGeom prst="rect">
            <a:avLst/>
          </a:prstGeom>
          <a:noFill/>
          <a:ln/>
        </p:spPr>
        <p:txBody>
          <a:bodyPr wrap="square" lIns="18288" tIns="9144" rIns="18288" bIns="9144" rtlCol="0" anchor="ctr"/>
          <a:lstStyle/>
          <a:p>
            <a:pPr marL="0" indent="0">
              <a:buNone/>
            </a:pPr>
            <a:r>
              <a:rPr lang="en-US" sz="2700" b="1" dirty="0">
                <a:solidFill>
                  <a:srgbClr val="0B1F33"/>
                </a:solidFill>
                <a:latin typeface="Aptos"/>
              </a:rPr>
              <a:t>Risk assessment approach</a:t>
            </a:r>
            <a:endParaRPr lang="en-US" sz="2400" dirty="0"/>
          </a:p>
        </p:txBody>
      </p:sp>
      <p:sp>
        <p:nvSpPr>
          <p:cNvPr id="3" name="Text 1"/>
          <p:cNvSpPr/>
          <p:nvPr/>
        </p:nvSpPr>
        <p:spPr>
          <a:xfrm>
            <a:off x="530352" y="667512"/>
            <a:ext cx="7772400" cy="228600"/>
          </a:xfrm>
          <a:prstGeom prst="rect">
            <a:avLst/>
          </a:prstGeom>
          <a:noFill/>
          <a:ln/>
        </p:spPr>
        <p:txBody>
          <a:bodyPr wrap="square" lIns="18288" tIns="9144" rIns="18288" bIns="9144" rtlCol="0" anchor="ctr"/>
          <a:lstStyle/>
          <a:p>
            <a:pPr marL="0" indent="0">
              <a:buNone/>
            </a:pPr>
            <a:r>
              <a:rPr lang="en-US" sz="1350" dirty="0" b="0">
                <a:solidFill>
                  <a:srgbClr val="607082"/>
                </a:solidFill>
                <a:latin typeface="Aptos"/>
              </a:rPr>
              <a:t>Focused on practical cloud mistakes and their impact</a:t>
            </a:r>
            <a:endParaRPr lang="en-US" sz="1050" dirty="0"/>
          </a:p>
        </p:txBody>
      </p:sp>
      <p:sp>
        <p:nvSpPr>
          <p:cNvPr id="4" name="Text 2"/>
          <p:cNvSpPr/>
          <p:nvPr/>
        </p:nvSpPr>
        <p:spPr>
          <a:xfrm>
            <a:off x="9372600" y="310896"/>
            <a:ext cx="2057400" cy="256032"/>
          </a:xfrm>
          <a:prstGeom prst="rect">
            <a:avLst/>
          </a:prstGeom>
          <a:solidFill>
            <a:srgbClr val="6D4CBC"/>
          </a:solidFill>
          <a:ln>
            <a:noFill/>
          </a:ln>
        </p:spPr>
        <p:txBody>
          <a:bodyPr wrap="square" lIns="18288" tIns="9144" rIns="18288" bIns="9144" rtlCol="0" anchor="ctr"/>
          <a:lstStyle/>
          <a:p>
            <a:pPr marL="0" indent="0" algn="ctr">
              <a:buNone/>
            </a:pPr>
            <a:r>
              <a:rPr lang="en-US" sz="950" b="1" dirty="0">
                <a:solidFill>
                  <a:srgbClr val="FFFFFF"/>
                </a:solidFill>
                <a:latin typeface="Aptos"/>
              </a:rPr>
              <a:t>Risk management</a:t>
            </a:r>
            <a:endParaRPr lang="en-US" sz="850" dirty="0"/>
          </a:p>
        </p:txBody>
      </p:sp>
      <p:pic>
        <p:nvPicPr>
          <p:cNvPr id="5" name="Image 0" descr="/mnt/data/ppt_assets/risk.png"/>
          <p:cNvPicPr>
            <a:picLocks noChangeAspect="1"/>
          </p:cNvPicPr>
          <p:nvPr/>
        </p:nvPicPr>
        <p:blipFill>
          <a:blip r:embed="rId3"/>
          <a:stretch>
            <a:fillRect/>
          </a:stretch>
        </p:blipFill>
        <p:spPr>
          <a:xfrm>
            <a:off x="6970619" y="914400"/>
            <a:ext cx="4026722" cy="5166360"/>
          </a:xfrm>
          <a:prstGeom prst="rect">
            <a:avLst/>
          </a:prstGeom>
          <a:ln w="12700">
            <a:solidFill>
              <a:srgbClr val="D2DCE6"/>
            </a:solidFill>
          </a:ln>
        </p:spPr>
      </p:pic>
      <p:sp>
        <p:nvSpPr>
          <p:cNvPr id="6" name="Text 3"/>
          <p:cNvSpPr/>
          <p:nvPr/>
        </p:nvSpPr>
        <p:spPr>
          <a:xfrm>
            <a:off x="685800" y="1097280"/>
            <a:ext cx="5669280" cy="4434840"/>
          </a:xfrm>
          <a:prstGeom prst="rect">
            <a:avLst/>
          </a:prstGeom>
          <a:noFill/>
          <a:ln/>
        </p:spPr>
        <p:txBody>
          <a:bodyPr wrap="square" lIns="18288" tIns="9144" rIns="18288" bIns="9144" rtlCol="0" anchor="ctr">
            <a:normAutofit/>
          </a:bodyPr>
          <a:lstStyle/>
          <a:p>
            <a:r>
              <a:rPr lang="en-US" sz="1600" dirty="0" b="0">
                <a:solidFill>
                  <a:srgbClr val="233040"/>
                </a:solidFill>
                <a:latin typeface="Aptos"/>
              </a:rPr>
              <a:t>Risks were rated by likelihood and impact</a:t>
            </a:r>
            <a:endParaRPr lang="en-US" sz="1580" dirty="0"/>
          </a:p>
          <a:p>
            <a:r>
              <a:rPr lang="en-US" sz="1600" dirty="0" b="0">
                <a:solidFill>
                  <a:srgbClr val="233040"/>
                </a:solidFill>
                <a:latin typeface="Aptos"/>
              </a:rPr>
              <a:t>Most risks were practical configuration issues, not complex attacks</a:t>
            </a:r>
            <a:endParaRPr lang="en-US" sz="1580" dirty="0"/>
          </a:p>
          <a:p>
            <a:r>
              <a:rPr lang="en-US" sz="1600" dirty="0" b="0">
                <a:solidFill>
                  <a:srgbClr val="233040"/>
                </a:solidFill>
                <a:latin typeface="Aptos"/>
              </a:rPr>
              <a:t>Examples: IAM errors, public access exposure, DNS mistakes, VPN/FortiGate policy issues</a:t>
            </a:r>
            <a:endParaRPr lang="en-US" sz="1580" dirty="0"/>
          </a:p>
          <a:p>
            <a:r>
              <a:rPr lang="en-US" sz="1600" dirty="0" b="0">
                <a:solidFill>
                  <a:srgbClr val="233040"/>
                </a:solidFill>
                <a:latin typeface="Aptos"/>
              </a:rPr>
              <a:t>Mitigations used MFA, least privilege, peer review, logging, testing and backup validation</a:t>
            </a:r>
            <a:endParaRPr lang="en-US" sz="1580" dirty="0"/>
          </a:p>
        </p:txBody>
      </p:sp>
      <p:sp>
        <p:nvSpPr>
          <p:cNvPr id="9" name="Rectangle 8"/>
          <p:cNvSpPr/>
          <p:nvPr/>
        </p:nvSpPr>
        <p:spPr>
          <a:xfrm>
            <a:off x="502920" y="960120"/>
            <a:ext cx="10881360" cy="22860"/>
          </a:xfrm>
          <a:prstGeom prst="rect">
            <a:avLst/>
          </a:prstGeom>
          <a:solidFill>
            <a:srgbClr val="6D4C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565392"/>
            <a:ext cx="10972800" cy="164592"/>
          </a:xfrm>
          <a:prstGeom prst="rect">
            <a:avLst/>
          </a:prstGeom>
          <a:noFill/>
        </p:spPr>
        <p:txBody>
          <a:bodyPr wrap="none">
            <a:spAutoFit/>
          </a:bodyPr>
          <a:lstStyle/>
          <a:p>
            <a:pPr algn="l"/>
            <a:r>
              <a:rPr sz="750">
                <a:solidFill>
                  <a:srgbClr val="607082"/>
                </a:solidFill>
                <a:latin typeface="Aptos"/>
              </a:rPr>
              <a:t>CCC604 Assessment 8  |  Multi-Cloud Security Integration  |  21</a:t>
            </a:r>
          </a:p>
        </p:txBody>
      </p:sp>
      <p:sp>
        <p:nvSpPr>
          <p:cNvPr id="11" name="Oval 10"/>
          <p:cNvSpPr/>
          <p:nvPr/>
        </p:nvSpPr>
        <p:spPr>
          <a:xfrm>
            <a:off x="11292840" y="6537960"/>
            <a:ext cx="128016" cy="128016"/>
          </a:xfrm>
          <a:prstGeom prst="ellipse">
            <a:avLst/>
          </a:prstGeom>
          <a:solidFill>
            <a:srgbClr val="6D4C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1005840"/>
            <a:ext cx="1097280" cy="45720"/>
          </a:xfrm>
          <a:prstGeom prst="rect">
            <a:avLst/>
          </a:prstGeom>
          <a:solidFill>
            <a:srgbClr val="6D4C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0" y="0"/>
            <a:ext cx="146304" cy="6858000"/>
          </a:xfrm>
          <a:prstGeom prst="rect">
            <a:avLst/>
          </a:prstGeom>
          <a:solidFill>
            <a:srgbClr val="6D4C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0"/>
            <a:ext cx="12192000"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 0"/>
          <p:cNvSpPr/>
          <p:nvPr/>
        </p:nvSpPr>
        <p:spPr>
          <a:xfrm>
            <a:off x="502920" y="201168"/>
            <a:ext cx="7680960" cy="411480"/>
          </a:xfrm>
          <a:prstGeom prst="rect">
            <a:avLst/>
          </a:prstGeom>
          <a:noFill/>
          <a:ln/>
        </p:spPr>
        <p:txBody>
          <a:bodyPr wrap="square" lIns="18288" tIns="9144" rIns="18288" bIns="9144" rtlCol="0" anchor="ctr"/>
          <a:lstStyle/>
          <a:p>
            <a:pPr marL="0" indent="0">
              <a:buNone/>
            </a:pPr>
            <a:r>
              <a:rPr lang="en-US" sz="2700" b="1" dirty="0">
                <a:solidFill>
                  <a:srgbClr val="0B1F33"/>
                </a:solidFill>
                <a:latin typeface="Aptos"/>
              </a:rPr>
              <a:t>Top risks and mitigation examples</a:t>
            </a:r>
            <a:endParaRPr lang="en-US" sz="2400" dirty="0"/>
          </a:p>
        </p:txBody>
      </p:sp>
      <p:sp>
        <p:nvSpPr>
          <p:cNvPr id="3" name="Text 1"/>
          <p:cNvSpPr/>
          <p:nvPr/>
        </p:nvSpPr>
        <p:spPr>
          <a:xfrm>
            <a:off x="530352" y="667512"/>
            <a:ext cx="7772400" cy="228600"/>
          </a:xfrm>
          <a:prstGeom prst="rect">
            <a:avLst/>
          </a:prstGeom>
          <a:noFill/>
          <a:ln/>
        </p:spPr>
        <p:txBody>
          <a:bodyPr wrap="square" lIns="18288" tIns="9144" rIns="18288" bIns="9144" rtlCol="0" anchor="ctr"/>
          <a:lstStyle/>
          <a:p>
            <a:pPr marL="0" indent="0">
              <a:buNone/>
            </a:pPr>
            <a:r>
              <a:rPr lang="en-US" sz="1350" dirty="0" b="0">
                <a:solidFill>
                  <a:srgbClr val="607082"/>
                </a:solidFill>
                <a:latin typeface="Aptos"/>
              </a:rPr>
              <a:t>What we considered most important</a:t>
            </a:r>
            <a:endParaRPr lang="en-US" sz="1050" dirty="0"/>
          </a:p>
        </p:txBody>
      </p:sp>
      <p:sp>
        <p:nvSpPr>
          <p:cNvPr id="4" name="Text 2"/>
          <p:cNvSpPr/>
          <p:nvPr/>
        </p:nvSpPr>
        <p:spPr>
          <a:xfrm>
            <a:off x="9372600" y="310896"/>
            <a:ext cx="2057400" cy="256032"/>
          </a:xfrm>
          <a:prstGeom prst="rect">
            <a:avLst/>
          </a:prstGeom>
          <a:solidFill>
            <a:srgbClr val="6D4CBC"/>
          </a:solidFill>
          <a:ln>
            <a:noFill/>
          </a:ln>
        </p:spPr>
        <p:txBody>
          <a:bodyPr wrap="square" lIns="18288" tIns="9144" rIns="18288" bIns="9144" rtlCol="0" anchor="ctr"/>
          <a:lstStyle/>
          <a:p>
            <a:pPr marL="0" indent="0" algn="ctr">
              <a:buNone/>
            </a:pPr>
            <a:r>
              <a:rPr lang="en-US" sz="950" b="1" dirty="0">
                <a:solidFill>
                  <a:srgbClr val="FFFFFF"/>
                </a:solidFill>
                <a:latin typeface="Aptos"/>
              </a:rPr>
              <a:t>Risk management</a:t>
            </a:r>
            <a:endParaRPr lang="en-US" sz="850" dirty="0"/>
          </a:p>
        </p:txBody>
      </p:sp>
      <p:sp>
        <p:nvSpPr>
          <p:cNvPr id="5" name="Text 3"/>
          <p:cNvSpPr/>
          <p:nvPr/>
        </p:nvSpPr>
        <p:spPr>
          <a:xfrm>
            <a:off x="594360" y="1207008"/>
            <a:ext cx="5120640" cy="201168"/>
          </a:xfrm>
          <a:prstGeom prst="rect">
            <a:avLst/>
          </a:prstGeom>
          <a:noFill/>
          <a:ln/>
        </p:spPr>
        <p:txBody>
          <a:bodyPr wrap="square" lIns="18288" tIns="9144" rIns="18288" bIns="9144" rtlCol="0" anchor="ctr">
            <a:normAutofit/>
          </a:bodyPr>
          <a:lstStyle/>
          <a:p>
            <a:pPr marL="0" indent="0">
              <a:buNone/>
            </a:pPr>
            <a:r>
              <a:rPr lang="en-US" sz="1200" b="1" dirty="0">
                <a:solidFill>
                  <a:srgbClr val="6D4CBC"/>
                </a:solidFill>
                <a:latin typeface="Aptos"/>
              </a:rPr>
              <a:t>HIGH-RISK AREAS</a:t>
            </a:r>
            <a:endParaRPr lang="en-US" sz="850" dirty="0"/>
          </a:p>
        </p:txBody>
      </p:sp>
      <p:sp>
        <p:nvSpPr>
          <p:cNvPr id="6" name="Text 4"/>
          <p:cNvSpPr/>
          <p:nvPr/>
        </p:nvSpPr>
        <p:spPr>
          <a:xfrm>
            <a:off x="594360" y="1536192"/>
            <a:ext cx="5120640" cy="4206240"/>
          </a:xfrm>
          <a:prstGeom prst="rect">
            <a:avLst/>
          </a:prstGeom>
          <a:noFill/>
          <a:ln/>
        </p:spPr>
        <p:txBody>
          <a:bodyPr wrap="square" lIns="18288" tIns="9144" rIns="18288" bIns="9144" rtlCol="0" anchor="ctr">
            <a:normAutofit/>
          </a:bodyPr>
          <a:lstStyle/>
          <a:p>
            <a:r>
              <a:rPr lang="en-US" sz="1800" dirty="0" b="0">
                <a:solidFill>
                  <a:srgbClr val="233040"/>
                </a:solidFill>
                <a:latin typeface="Aptos"/>
              </a:rPr>
              <a:t>IAM or RBAC over-permission</a:t>
            </a:r>
            <a:endParaRPr lang="en-US" sz="1450" dirty="0"/>
          </a:p>
          <a:p>
            <a:r>
              <a:rPr lang="en-US" sz="1800" dirty="0" b="0">
                <a:solidFill>
                  <a:srgbClr val="233040"/>
                </a:solidFill>
                <a:latin typeface="Aptos"/>
              </a:rPr>
              <a:t>Security Group allowing public SSH/database access</a:t>
            </a:r>
            <a:endParaRPr lang="en-US" sz="1450" dirty="0"/>
          </a:p>
          <a:p>
            <a:r>
              <a:rPr lang="en-US" sz="1800" dirty="0" b="0">
                <a:solidFill>
                  <a:srgbClr val="233040"/>
                </a:solidFill>
                <a:latin typeface="Aptos"/>
              </a:rPr>
              <a:t>RDS or backup storage exposure</a:t>
            </a:r>
            <a:endParaRPr lang="en-US" sz="1450" dirty="0"/>
          </a:p>
          <a:p>
            <a:r>
              <a:rPr lang="en-US" sz="1800" dirty="0" b="0">
                <a:solidFill>
                  <a:srgbClr val="233040"/>
                </a:solidFill>
                <a:latin typeface="Aptos"/>
              </a:rPr>
              <a:t>FortiGate policy or VPN routing mistake</a:t>
            </a:r>
            <a:endParaRPr lang="en-US" sz="1450" dirty="0"/>
          </a:p>
          <a:p>
            <a:r>
              <a:rPr lang="en-US" sz="1800" dirty="0" b="0">
                <a:solidFill>
                  <a:srgbClr val="233040"/>
                </a:solidFill>
                <a:latin typeface="Aptos"/>
              </a:rPr>
              <a:t>Monitoring gaps during incident review</a:t>
            </a:r>
            <a:endParaRPr lang="en-US" sz="1450" dirty="0"/>
          </a:p>
        </p:txBody>
      </p:sp>
      <p:sp>
        <p:nvSpPr>
          <p:cNvPr id="7" name="Text 5"/>
          <p:cNvSpPr/>
          <p:nvPr/>
        </p:nvSpPr>
        <p:spPr>
          <a:xfrm>
            <a:off x="6400800" y="1207008"/>
            <a:ext cx="5120640" cy="201168"/>
          </a:xfrm>
          <a:prstGeom prst="rect">
            <a:avLst/>
          </a:prstGeom>
          <a:noFill/>
          <a:ln/>
        </p:spPr>
        <p:txBody>
          <a:bodyPr wrap="square" lIns="18288" tIns="9144" rIns="18288" bIns="9144" rtlCol="0" anchor="ctr">
            <a:normAutofit/>
          </a:bodyPr>
          <a:lstStyle/>
          <a:p>
            <a:pPr marL="0" indent="0">
              <a:buNone/>
            </a:pPr>
            <a:r>
              <a:rPr lang="en-US" sz="1200" b="1" dirty="0">
                <a:solidFill>
                  <a:srgbClr val="6D4CBC"/>
                </a:solidFill>
                <a:latin typeface="Aptos"/>
              </a:rPr>
              <a:t>MITIGATION ACTIONS</a:t>
            </a:r>
            <a:endParaRPr lang="en-US" sz="850" dirty="0"/>
          </a:p>
        </p:txBody>
      </p:sp>
      <p:sp>
        <p:nvSpPr>
          <p:cNvPr id="8" name="Text 6"/>
          <p:cNvSpPr/>
          <p:nvPr/>
        </p:nvSpPr>
        <p:spPr>
          <a:xfrm>
            <a:off x="6400800" y="1536192"/>
            <a:ext cx="5120640" cy="4206240"/>
          </a:xfrm>
          <a:prstGeom prst="rect">
            <a:avLst/>
          </a:prstGeom>
          <a:noFill/>
          <a:ln/>
        </p:spPr>
        <p:txBody>
          <a:bodyPr wrap="square" lIns="18288" tIns="9144" rIns="18288" bIns="9144" rtlCol="0" anchor="ctr">
            <a:normAutofit/>
          </a:bodyPr>
          <a:lstStyle/>
          <a:p>
            <a:r>
              <a:rPr lang="en-US" sz="1600" dirty="0" b="0">
                <a:solidFill>
                  <a:srgbClr val="233040"/>
                </a:solidFill>
                <a:latin typeface="Aptos"/>
              </a:rPr>
              <a:t>Use least privilege and MFA</a:t>
            </a:r>
            <a:endParaRPr lang="en-US" sz="1450" dirty="0"/>
          </a:p>
          <a:p>
            <a:r>
              <a:rPr lang="en-US" sz="1600" dirty="0" b="0">
                <a:solidFill>
                  <a:srgbClr val="233040"/>
                </a:solidFill>
                <a:latin typeface="Aptos"/>
              </a:rPr>
              <a:t>Restrict inbound rules and review access paths</a:t>
            </a:r>
            <a:endParaRPr lang="en-US" sz="1450" dirty="0"/>
          </a:p>
          <a:p>
            <a:r>
              <a:rPr lang="en-US" sz="1600" dirty="0" b="0">
                <a:solidFill>
                  <a:srgbClr val="233040"/>
                </a:solidFill>
                <a:latin typeface="Aptos"/>
              </a:rPr>
              <a:t>Keep database/private resources non-public</a:t>
            </a:r>
            <a:endParaRPr lang="en-US" sz="1450" dirty="0"/>
          </a:p>
          <a:p>
            <a:r>
              <a:rPr lang="en-US" sz="1600" dirty="0" b="0">
                <a:solidFill>
                  <a:srgbClr val="233040"/>
                </a:solidFill>
                <a:latin typeface="Aptos"/>
              </a:rPr>
              <a:t>Review firewall/VPN rules before final submission</a:t>
            </a:r>
            <a:endParaRPr lang="en-US" sz="1450" dirty="0"/>
          </a:p>
          <a:p>
            <a:r>
              <a:rPr lang="en-US" sz="1600" dirty="0" b="0">
                <a:solidFill>
                  <a:srgbClr val="233040"/>
                </a:solidFill>
                <a:latin typeface="Aptos"/>
              </a:rPr>
              <a:t>Use CloudTrail, CloudWatch, Azure Monitor and FortiGate logs</a:t>
            </a:r>
            <a:endParaRPr lang="en-US" sz="1450" dirty="0"/>
          </a:p>
        </p:txBody>
      </p:sp>
      <p:sp>
        <p:nvSpPr>
          <p:cNvPr id="11" name="Rectangle 10"/>
          <p:cNvSpPr/>
          <p:nvPr/>
        </p:nvSpPr>
        <p:spPr>
          <a:xfrm>
            <a:off x="502920" y="960120"/>
            <a:ext cx="10881360" cy="22860"/>
          </a:xfrm>
          <a:prstGeom prst="rect">
            <a:avLst/>
          </a:prstGeom>
          <a:solidFill>
            <a:srgbClr val="6D4C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565392"/>
            <a:ext cx="10972800" cy="164592"/>
          </a:xfrm>
          <a:prstGeom prst="rect">
            <a:avLst/>
          </a:prstGeom>
          <a:noFill/>
        </p:spPr>
        <p:txBody>
          <a:bodyPr wrap="none">
            <a:spAutoFit/>
          </a:bodyPr>
          <a:lstStyle/>
          <a:p>
            <a:pPr algn="l"/>
            <a:r>
              <a:rPr sz="750">
                <a:solidFill>
                  <a:srgbClr val="607082"/>
                </a:solidFill>
                <a:latin typeface="Aptos"/>
              </a:rPr>
              <a:t>CCC604 Assessment 8  |  Multi-Cloud Security Integration  |  22</a:t>
            </a:r>
          </a:p>
        </p:txBody>
      </p:sp>
      <p:sp>
        <p:nvSpPr>
          <p:cNvPr id="13" name="Oval 12"/>
          <p:cNvSpPr/>
          <p:nvPr/>
        </p:nvSpPr>
        <p:spPr>
          <a:xfrm>
            <a:off x="11292840" y="6537960"/>
            <a:ext cx="128016" cy="128016"/>
          </a:xfrm>
          <a:prstGeom prst="ellipse">
            <a:avLst/>
          </a:prstGeom>
          <a:solidFill>
            <a:srgbClr val="6D4C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146304" cy="6858000"/>
          </a:xfrm>
          <a:prstGeom prst="rect">
            <a:avLst/>
          </a:prstGeom>
          <a:solidFill>
            <a:srgbClr val="6D4C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0"/>
            <a:ext cx="12192000"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 0"/>
          <p:cNvSpPr/>
          <p:nvPr/>
        </p:nvSpPr>
        <p:spPr>
          <a:xfrm>
            <a:off x="502920" y="201168"/>
            <a:ext cx="7680960" cy="411480"/>
          </a:xfrm>
          <a:prstGeom prst="rect">
            <a:avLst/>
          </a:prstGeom>
          <a:noFill/>
          <a:ln/>
        </p:spPr>
        <p:txBody>
          <a:bodyPr wrap="square" lIns="18288" tIns="9144" rIns="18288" bIns="9144" rtlCol="0" anchor="ctr"/>
          <a:lstStyle/>
          <a:p>
            <a:pPr marL="0" indent="0">
              <a:buNone/>
            </a:pPr>
            <a:r>
              <a:rPr lang="en-US" sz="2700" b="1" dirty="0">
                <a:solidFill>
                  <a:srgbClr val="0B1F33"/>
                </a:solidFill>
                <a:latin typeface="Aptos"/>
              </a:rPr>
              <a:t>Security incident identified during testing</a:t>
            </a:r>
            <a:endParaRPr lang="en-US" sz="2400" dirty="0"/>
          </a:p>
        </p:txBody>
      </p:sp>
      <p:sp>
        <p:nvSpPr>
          <p:cNvPr id="3" name="Text 1"/>
          <p:cNvSpPr/>
          <p:nvPr/>
        </p:nvSpPr>
        <p:spPr>
          <a:xfrm>
            <a:off x="530352" y="667512"/>
            <a:ext cx="7772400" cy="228600"/>
          </a:xfrm>
          <a:prstGeom prst="rect">
            <a:avLst/>
          </a:prstGeom>
          <a:noFill/>
          <a:ln/>
        </p:spPr>
        <p:txBody>
          <a:bodyPr wrap="square" lIns="18288" tIns="9144" rIns="18288" bIns="9144" rtlCol="0" anchor="ctr"/>
          <a:lstStyle/>
          <a:p>
            <a:pPr marL="0" indent="0">
              <a:buNone/>
            </a:pPr>
            <a:r>
              <a:rPr lang="en-US" sz="1350" dirty="0" b="0">
                <a:solidFill>
                  <a:srgbClr val="607082"/>
                </a:solidFill>
                <a:latin typeface="Aptos"/>
              </a:rPr>
              <a:t>EC2 Security Group allowed public SSH access</a:t>
            </a:r>
            <a:endParaRPr lang="en-US" sz="1050" dirty="0"/>
          </a:p>
        </p:txBody>
      </p:sp>
      <p:sp>
        <p:nvSpPr>
          <p:cNvPr id="4" name="Text 2"/>
          <p:cNvSpPr/>
          <p:nvPr/>
        </p:nvSpPr>
        <p:spPr>
          <a:xfrm>
            <a:off x="9372600" y="310896"/>
            <a:ext cx="2057400" cy="256032"/>
          </a:xfrm>
          <a:prstGeom prst="rect">
            <a:avLst/>
          </a:prstGeom>
          <a:solidFill>
            <a:srgbClr val="6D4CBC"/>
          </a:solidFill>
          <a:ln>
            <a:noFill/>
          </a:ln>
        </p:spPr>
        <p:txBody>
          <a:bodyPr wrap="square" lIns="18288" tIns="9144" rIns="18288" bIns="9144" rtlCol="0" anchor="ctr"/>
          <a:lstStyle/>
          <a:p>
            <a:pPr marL="0" indent="0" algn="ctr">
              <a:buNone/>
            </a:pPr>
            <a:r>
              <a:rPr lang="en-US" sz="950" b="1" dirty="0">
                <a:solidFill>
                  <a:srgbClr val="FFFFFF"/>
                </a:solidFill>
                <a:latin typeface="Aptos"/>
              </a:rPr>
              <a:t>Incident analysis</a:t>
            </a:r>
            <a:endParaRPr lang="en-US" sz="850" dirty="0"/>
          </a:p>
        </p:txBody>
      </p:sp>
      <p:pic>
        <p:nvPicPr>
          <p:cNvPr id="5" name="Image 0" descr="/mnt/data/ppt_assets/incident.png"/>
          <p:cNvPicPr>
            <a:picLocks noChangeAspect="1"/>
          </p:cNvPicPr>
          <p:nvPr/>
        </p:nvPicPr>
        <p:blipFill>
          <a:blip r:embed="rId3"/>
          <a:stretch>
            <a:fillRect/>
          </a:stretch>
        </p:blipFill>
        <p:spPr>
          <a:xfrm>
            <a:off x="6892114" y="960120"/>
            <a:ext cx="4138012" cy="5074920"/>
          </a:xfrm>
          <a:prstGeom prst="rect">
            <a:avLst/>
          </a:prstGeom>
          <a:ln w="12700">
            <a:solidFill>
              <a:srgbClr val="D2DCE6"/>
            </a:solidFill>
          </a:ln>
        </p:spPr>
      </p:pic>
      <p:sp>
        <p:nvSpPr>
          <p:cNvPr id="6" name="Text 3"/>
          <p:cNvSpPr/>
          <p:nvPr/>
        </p:nvSpPr>
        <p:spPr>
          <a:xfrm>
            <a:off x="685800" y="1143000"/>
            <a:ext cx="5577840" cy="4297680"/>
          </a:xfrm>
          <a:prstGeom prst="rect">
            <a:avLst/>
          </a:prstGeom>
          <a:noFill/>
          <a:ln/>
        </p:spPr>
        <p:txBody>
          <a:bodyPr wrap="square" lIns="18288" tIns="9144" rIns="18288" bIns="9144" rtlCol="0" anchor="ctr">
            <a:normAutofit/>
          </a:bodyPr>
          <a:lstStyle/>
          <a:p>
            <a:r>
              <a:rPr lang="en-US" sz="1600" dirty="0" b="0">
                <a:solidFill>
                  <a:srgbClr val="233040"/>
                </a:solidFill>
                <a:latin typeface="Aptos"/>
              </a:rPr>
              <a:t>Issue found: SSH port 22 allowed from 0.0.0.0/0</a:t>
            </a:r>
            <a:endParaRPr lang="en-US" sz="1600" dirty="0"/>
          </a:p>
          <a:p>
            <a:r>
              <a:rPr lang="en-US" sz="1600" dirty="0" b="0">
                <a:solidFill>
                  <a:srgbClr val="233040"/>
                </a:solidFill>
                <a:latin typeface="Aptos"/>
              </a:rPr>
              <a:t>Why it mattered: any public IP could attempt SSH connection</a:t>
            </a:r>
            <a:endParaRPr lang="en-US" sz="1600" dirty="0"/>
          </a:p>
          <a:p>
            <a:r>
              <a:rPr lang="en-US" sz="1600" dirty="0" b="0">
                <a:solidFill>
                  <a:srgbClr val="233040"/>
                </a:solidFill>
                <a:latin typeface="Aptos"/>
              </a:rPr>
              <a:t>No confirmed unauthorised access; the issue was unnecessary exposure</a:t>
            </a:r>
            <a:endParaRPr lang="en-US" sz="1600" dirty="0"/>
          </a:p>
          <a:p>
            <a:r>
              <a:rPr lang="en-US" sz="1600" dirty="0" b="0">
                <a:solidFill>
                  <a:srgbClr val="233040"/>
                </a:solidFill>
                <a:latin typeface="Aptos"/>
              </a:rPr>
              <a:t>Corrective action: restrict/remove public SSH and review access controls</a:t>
            </a:r>
            <a:endParaRPr lang="en-US" sz="1600" dirty="0"/>
          </a:p>
        </p:txBody>
      </p:sp>
      <p:sp>
        <p:nvSpPr>
          <p:cNvPr id="9" name="Rectangle 8"/>
          <p:cNvSpPr/>
          <p:nvPr/>
        </p:nvSpPr>
        <p:spPr>
          <a:xfrm>
            <a:off x="502920" y="960120"/>
            <a:ext cx="10881360" cy="22860"/>
          </a:xfrm>
          <a:prstGeom prst="rect">
            <a:avLst/>
          </a:prstGeom>
          <a:solidFill>
            <a:srgbClr val="6D4C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565392"/>
            <a:ext cx="10972800" cy="164592"/>
          </a:xfrm>
          <a:prstGeom prst="rect">
            <a:avLst/>
          </a:prstGeom>
          <a:noFill/>
        </p:spPr>
        <p:txBody>
          <a:bodyPr wrap="none">
            <a:spAutoFit/>
          </a:bodyPr>
          <a:lstStyle/>
          <a:p>
            <a:pPr algn="l"/>
            <a:r>
              <a:rPr sz="750">
                <a:solidFill>
                  <a:srgbClr val="607082"/>
                </a:solidFill>
                <a:latin typeface="Aptos"/>
              </a:rPr>
              <a:t>CCC604 Assessment 8  |  Multi-Cloud Security Integration  |  23</a:t>
            </a:r>
          </a:p>
        </p:txBody>
      </p:sp>
      <p:sp>
        <p:nvSpPr>
          <p:cNvPr id="11" name="Oval 10"/>
          <p:cNvSpPr/>
          <p:nvPr/>
        </p:nvSpPr>
        <p:spPr>
          <a:xfrm>
            <a:off x="11292840" y="6537960"/>
            <a:ext cx="128016" cy="128016"/>
          </a:xfrm>
          <a:prstGeom prst="ellipse">
            <a:avLst/>
          </a:prstGeom>
          <a:solidFill>
            <a:srgbClr val="6D4C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1005840"/>
            <a:ext cx="1097280" cy="45720"/>
          </a:xfrm>
          <a:prstGeom prst="rect">
            <a:avLst/>
          </a:prstGeom>
          <a:solidFill>
            <a:srgbClr val="6D4C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0" y="0"/>
            <a:ext cx="146304" cy="6858000"/>
          </a:xfrm>
          <a:prstGeom prst="rect">
            <a:avLst/>
          </a:prstGeom>
          <a:solidFill>
            <a:srgbClr val="6D4C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0" y="0"/>
            <a:ext cx="12192000"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 0"/>
          <p:cNvSpPr/>
          <p:nvPr/>
        </p:nvSpPr>
        <p:spPr>
          <a:xfrm>
            <a:off x="502920" y="201168"/>
            <a:ext cx="7680960" cy="411480"/>
          </a:xfrm>
          <a:prstGeom prst="rect">
            <a:avLst/>
          </a:prstGeom>
          <a:noFill/>
          <a:ln/>
        </p:spPr>
        <p:txBody>
          <a:bodyPr wrap="square" lIns="18288" tIns="9144" rIns="18288" bIns="9144" rtlCol="0" anchor="ctr"/>
          <a:lstStyle/>
          <a:p>
            <a:pPr marL="0" indent="0">
              <a:buNone/>
            </a:pPr>
            <a:r>
              <a:rPr lang="en-US" sz="2700" b="1" dirty="0">
                <a:solidFill>
                  <a:srgbClr val="0B1F33"/>
                </a:solidFill>
                <a:latin typeface="Aptos"/>
              </a:rPr>
              <a:t>Incident response timeline</a:t>
            </a:r>
            <a:endParaRPr lang="en-US" sz="2400" dirty="0"/>
          </a:p>
        </p:txBody>
      </p:sp>
      <p:sp>
        <p:nvSpPr>
          <p:cNvPr id="3" name="Text 1"/>
          <p:cNvSpPr/>
          <p:nvPr/>
        </p:nvSpPr>
        <p:spPr>
          <a:xfrm>
            <a:off x="530352" y="667512"/>
            <a:ext cx="7772400" cy="228600"/>
          </a:xfrm>
          <a:prstGeom prst="rect">
            <a:avLst/>
          </a:prstGeom>
          <a:noFill/>
          <a:ln/>
        </p:spPr>
        <p:txBody>
          <a:bodyPr wrap="square" lIns="18288" tIns="9144" rIns="18288" bIns="9144" rtlCol="0" anchor="ctr"/>
          <a:lstStyle/>
          <a:p>
            <a:pPr marL="0" indent="0">
              <a:buNone/>
            </a:pPr>
            <a:r>
              <a:rPr lang="en-US" sz="1350" dirty="0" b="0">
                <a:solidFill>
                  <a:srgbClr val="607082"/>
                </a:solidFill>
                <a:latin typeface="Aptos"/>
              </a:rPr>
              <a:t>How the issue was reviewed and corrected</a:t>
            </a:r>
            <a:endParaRPr lang="en-US" sz="1050" dirty="0"/>
          </a:p>
        </p:txBody>
      </p:sp>
      <p:sp>
        <p:nvSpPr>
          <p:cNvPr id="4" name="Text 2"/>
          <p:cNvSpPr/>
          <p:nvPr/>
        </p:nvSpPr>
        <p:spPr>
          <a:xfrm>
            <a:off x="9372600" y="310896"/>
            <a:ext cx="2057400" cy="256032"/>
          </a:xfrm>
          <a:prstGeom prst="rect">
            <a:avLst/>
          </a:prstGeom>
          <a:solidFill>
            <a:srgbClr val="6D4CBC"/>
          </a:solidFill>
          <a:ln>
            <a:noFill/>
          </a:ln>
        </p:spPr>
        <p:txBody>
          <a:bodyPr wrap="square" lIns="18288" tIns="9144" rIns="18288" bIns="9144" rtlCol="0" anchor="ctr"/>
          <a:lstStyle/>
          <a:p>
            <a:pPr marL="0" indent="0" algn="ctr">
              <a:buNone/>
            </a:pPr>
            <a:r>
              <a:rPr lang="en-US" sz="950" b="1" dirty="0">
                <a:solidFill>
                  <a:srgbClr val="FFFFFF"/>
                </a:solidFill>
                <a:latin typeface="Aptos"/>
              </a:rPr>
              <a:t>Incident analysis</a:t>
            </a:r>
            <a:endParaRPr lang="en-US" sz="850" dirty="0"/>
          </a:p>
        </p:txBody>
      </p:sp>
      <p:sp>
        <p:nvSpPr>
          <p:cNvPr id="5" name="Text 3"/>
          <p:cNvSpPr/>
          <p:nvPr/>
        </p:nvSpPr>
        <p:spPr>
          <a:xfrm>
            <a:off x="777240" y="1143000"/>
            <a:ext cx="2377440" cy="201168"/>
          </a:xfrm>
          <a:prstGeom prst="rect">
            <a:avLst/>
          </a:prstGeom>
          <a:noFill/>
          <a:ln/>
        </p:spPr>
        <p:txBody>
          <a:bodyPr wrap="square" lIns="18288" tIns="9144" rIns="18288" bIns="9144" rtlCol="0" anchor="ctr">
            <a:normAutofit/>
          </a:bodyPr>
          <a:lstStyle/>
          <a:p>
            <a:pPr marL="0" indent="0">
              <a:buNone/>
            </a:pPr>
            <a:r>
              <a:rPr lang="en-US" sz="1200" b="1" dirty="0">
                <a:solidFill>
                  <a:srgbClr val="6D4CBC"/>
                </a:solidFill>
                <a:latin typeface="Aptos"/>
              </a:rPr>
              <a:t>1. IDENTIFY</a:t>
            </a:r>
            <a:endParaRPr lang="en-US" sz="850" dirty="0"/>
          </a:p>
        </p:txBody>
      </p:sp>
      <p:sp>
        <p:nvSpPr>
          <p:cNvPr id="6" name="Text 4"/>
          <p:cNvSpPr/>
          <p:nvPr/>
        </p:nvSpPr>
        <p:spPr>
          <a:xfrm>
            <a:off x="777240" y="1417320"/>
            <a:ext cx="2423160" cy="1554480"/>
          </a:xfrm>
          <a:prstGeom prst="rect">
            <a:avLst/>
          </a:prstGeom>
          <a:noFill/>
          <a:ln/>
        </p:spPr>
        <p:txBody>
          <a:bodyPr wrap="square" lIns="18288" tIns="9144" rIns="18288" bIns="9144" rtlCol="0" anchor="ctr">
            <a:normAutofit/>
          </a:bodyPr>
          <a:lstStyle/>
          <a:p>
            <a:r>
              <a:rPr lang="en-US" sz="1800" dirty="0" b="0">
                <a:solidFill>
                  <a:srgbClr val="233040"/>
                </a:solidFill>
                <a:latin typeface="Aptos"/>
              </a:rPr>
              <a:t>Security Group rule reviewed</a:t>
            </a:r>
            <a:endParaRPr lang="en-US" sz="1320" dirty="0"/>
          </a:p>
          <a:p>
            <a:r>
              <a:rPr lang="en-US" sz="1800" dirty="0" b="0">
                <a:solidFill>
                  <a:srgbClr val="233040"/>
                </a:solidFill>
                <a:latin typeface="Aptos"/>
              </a:rPr>
              <a:t>Port 22 source: 0.0.0.0/0</a:t>
            </a:r>
            <a:endParaRPr lang="en-US" sz="1320" dirty="0"/>
          </a:p>
        </p:txBody>
      </p:sp>
      <p:sp>
        <p:nvSpPr>
          <p:cNvPr id="7" name="Text 5"/>
          <p:cNvSpPr/>
          <p:nvPr/>
        </p:nvSpPr>
        <p:spPr>
          <a:xfrm>
            <a:off x="3429000" y="1143000"/>
            <a:ext cx="2377440" cy="201168"/>
          </a:xfrm>
          <a:prstGeom prst="rect">
            <a:avLst/>
          </a:prstGeom>
          <a:noFill/>
          <a:ln/>
        </p:spPr>
        <p:txBody>
          <a:bodyPr wrap="square" lIns="18288" tIns="9144" rIns="18288" bIns="9144" rtlCol="0" anchor="ctr">
            <a:normAutofit/>
          </a:bodyPr>
          <a:lstStyle/>
          <a:p>
            <a:pPr marL="0" indent="0">
              <a:buNone/>
            </a:pPr>
            <a:r>
              <a:rPr lang="en-US" sz="1200" b="1" dirty="0">
                <a:solidFill>
                  <a:srgbClr val="6D4CBC"/>
                </a:solidFill>
                <a:latin typeface="Aptos"/>
              </a:rPr>
              <a:t>2. CONFIRM</a:t>
            </a:r>
            <a:endParaRPr lang="en-US" sz="850" dirty="0"/>
          </a:p>
        </p:txBody>
      </p:sp>
      <p:sp>
        <p:nvSpPr>
          <p:cNvPr id="8" name="Text 6"/>
          <p:cNvSpPr/>
          <p:nvPr/>
        </p:nvSpPr>
        <p:spPr>
          <a:xfrm>
            <a:off x="3429000" y="1417320"/>
            <a:ext cx="2423160" cy="1554480"/>
          </a:xfrm>
          <a:prstGeom prst="rect">
            <a:avLst/>
          </a:prstGeom>
          <a:noFill/>
          <a:ln/>
        </p:spPr>
        <p:txBody>
          <a:bodyPr wrap="square" lIns="18288" tIns="9144" rIns="18288" bIns="9144" rtlCol="0" anchor="ctr">
            <a:normAutofit/>
          </a:bodyPr>
          <a:lstStyle/>
          <a:p>
            <a:r>
              <a:rPr lang="en-US" sz="1800" dirty="0" b="0">
                <a:solidFill>
                  <a:srgbClr val="233040"/>
                </a:solidFill>
                <a:latin typeface="Aptos"/>
              </a:rPr>
              <a:t>Public SSH not required</a:t>
            </a:r>
            <a:endParaRPr lang="en-US" sz="1320" dirty="0"/>
          </a:p>
          <a:p>
            <a:r>
              <a:rPr lang="en-US" sz="1800" dirty="0" b="0">
                <a:solidFill>
                  <a:srgbClr val="233040"/>
                </a:solidFill>
                <a:latin typeface="Aptos"/>
              </a:rPr>
              <a:t>VPN/FortiGate path preferred</a:t>
            </a:r>
            <a:endParaRPr lang="en-US" sz="1320" dirty="0"/>
          </a:p>
        </p:txBody>
      </p:sp>
      <p:sp>
        <p:nvSpPr>
          <p:cNvPr id="9" name="Text 7"/>
          <p:cNvSpPr/>
          <p:nvPr/>
        </p:nvSpPr>
        <p:spPr>
          <a:xfrm>
            <a:off x="6080760" y="1143000"/>
            <a:ext cx="2377440" cy="201168"/>
          </a:xfrm>
          <a:prstGeom prst="rect">
            <a:avLst/>
          </a:prstGeom>
          <a:noFill/>
          <a:ln/>
        </p:spPr>
        <p:txBody>
          <a:bodyPr wrap="square" lIns="18288" tIns="9144" rIns="18288" bIns="9144" rtlCol="0" anchor="ctr">
            <a:normAutofit/>
          </a:bodyPr>
          <a:lstStyle/>
          <a:p>
            <a:pPr marL="0" indent="0">
              <a:buNone/>
            </a:pPr>
            <a:r>
              <a:rPr lang="en-US" sz="1200" b="1" dirty="0">
                <a:solidFill>
                  <a:srgbClr val="6D4CBC"/>
                </a:solidFill>
                <a:latin typeface="Aptos"/>
              </a:rPr>
              <a:t>3. CORRECT</a:t>
            </a:r>
            <a:endParaRPr lang="en-US" sz="850" dirty="0"/>
          </a:p>
        </p:txBody>
      </p:sp>
      <p:sp>
        <p:nvSpPr>
          <p:cNvPr id="10" name="Text 8"/>
          <p:cNvSpPr/>
          <p:nvPr/>
        </p:nvSpPr>
        <p:spPr>
          <a:xfrm>
            <a:off x="6080760" y="1417320"/>
            <a:ext cx="2423160" cy="1554480"/>
          </a:xfrm>
          <a:prstGeom prst="rect">
            <a:avLst/>
          </a:prstGeom>
          <a:noFill/>
          <a:ln/>
        </p:spPr>
        <p:txBody>
          <a:bodyPr wrap="square" lIns="18288" tIns="9144" rIns="18288" bIns="9144" rtlCol="0" anchor="ctr">
            <a:normAutofit/>
          </a:bodyPr>
          <a:lstStyle/>
          <a:p>
            <a:r>
              <a:rPr lang="en-US" sz="1800" dirty="0" b="0">
                <a:solidFill>
                  <a:srgbClr val="233040"/>
                </a:solidFill>
                <a:latin typeface="Aptos"/>
              </a:rPr>
              <a:t>Restrict/remove rule</a:t>
            </a:r>
            <a:endParaRPr lang="en-US" sz="1320" dirty="0"/>
          </a:p>
          <a:p>
            <a:r>
              <a:rPr lang="en-US" sz="1800" dirty="0" b="0">
                <a:solidFill>
                  <a:srgbClr val="233040"/>
                </a:solidFill>
                <a:latin typeface="Aptos"/>
              </a:rPr>
              <a:t>Check related groups</a:t>
            </a:r>
            <a:endParaRPr lang="en-US" sz="1320" dirty="0"/>
          </a:p>
        </p:txBody>
      </p:sp>
      <p:sp>
        <p:nvSpPr>
          <p:cNvPr id="11" name="Text 9"/>
          <p:cNvSpPr/>
          <p:nvPr/>
        </p:nvSpPr>
        <p:spPr>
          <a:xfrm>
            <a:off x="8732520" y="1143000"/>
            <a:ext cx="2377440" cy="201168"/>
          </a:xfrm>
          <a:prstGeom prst="rect">
            <a:avLst/>
          </a:prstGeom>
          <a:noFill/>
          <a:ln/>
        </p:spPr>
        <p:txBody>
          <a:bodyPr wrap="square" lIns="18288" tIns="9144" rIns="18288" bIns="9144" rtlCol="0" anchor="ctr">
            <a:normAutofit/>
          </a:bodyPr>
          <a:lstStyle/>
          <a:p>
            <a:pPr marL="0" indent="0">
              <a:buNone/>
            </a:pPr>
            <a:r>
              <a:rPr lang="en-US" sz="1200" b="1" dirty="0">
                <a:solidFill>
                  <a:srgbClr val="6D4CBC"/>
                </a:solidFill>
                <a:latin typeface="Aptos"/>
              </a:rPr>
              <a:t>4. DOCUMENT</a:t>
            </a:r>
            <a:endParaRPr lang="en-US" sz="850" dirty="0"/>
          </a:p>
        </p:txBody>
      </p:sp>
      <p:sp>
        <p:nvSpPr>
          <p:cNvPr id="12" name="Text 10"/>
          <p:cNvSpPr/>
          <p:nvPr/>
        </p:nvSpPr>
        <p:spPr>
          <a:xfrm>
            <a:off x="8732520" y="1417320"/>
            <a:ext cx="2423160" cy="1554480"/>
          </a:xfrm>
          <a:prstGeom prst="rect">
            <a:avLst/>
          </a:prstGeom>
          <a:noFill/>
          <a:ln/>
        </p:spPr>
        <p:txBody>
          <a:bodyPr wrap="square" lIns="18288" tIns="9144" rIns="18288" bIns="9144" rtlCol="0" anchor="ctr">
            <a:normAutofit/>
          </a:bodyPr>
          <a:lstStyle/>
          <a:p>
            <a:r>
              <a:rPr lang="en-US" sz="1800" dirty="0" b="0">
                <a:solidFill>
                  <a:srgbClr val="233040"/>
                </a:solidFill>
                <a:latin typeface="Aptos"/>
              </a:rPr>
              <a:t>Record lessons learned</a:t>
            </a:r>
            <a:endParaRPr lang="en-US" sz="1320" dirty="0"/>
          </a:p>
          <a:p>
            <a:r>
              <a:rPr lang="en-US" sz="1800" dirty="0" b="0">
                <a:solidFill>
                  <a:srgbClr val="233040"/>
                </a:solidFill>
                <a:latin typeface="Aptos"/>
              </a:rPr>
              <a:t>Add prevention actions</a:t>
            </a:r>
            <a:endParaRPr lang="en-US" sz="1320" dirty="0"/>
          </a:p>
        </p:txBody>
      </p:sp>
      <p:pic>
        <p:nvPicPr>
          <p:cNvPr id="13" name="Image 0" descr="/mnt/data/ppt_assets/incident.png"/>
          <p:cNvPicPr>
            <a:picLocks noChangeAspect="1"/>
          </p:cNvPicPr>
          <p:nvPr/>
        </p:nvPicPr>
        <p:blipFill>
          <a:blip r:embed="rId3"/>
          <a:stretch>
            <a:fillRect/>
          </a:stretch>
        </p:blipFill>
        <p:spPr>
          <a:xfrm>
            <a:off x="5380892" y="3566160"/>
            <a:ext cx="1491175" cy="1828800"/>
          </a:xfrm>
          <a:prstGeom prst="rect">
            <a:avLst/>
          </a:prstGeom>
          <a:ln w="12700">
            <a:solidFill>
              <a:srgbClr val="D2DCE6"/>
            </a:solidFill>
          </a:ln>
        </p:spPr>
      </p:pic>
      <p:sp>
        <p:nvSpPr>
          <p:cNvPr id="16" name="Rectangle 15"/>
          <p:cNvSpPr/>
          <p:nvPr/>
        </p:nvSpPr>
        <p:spPr>
          <a:xfrm>
            <a:off x="502920" y="960120"/>
            <a:ext cx="10881360" cy="22860"/>
          </a:xfrm>
          <a:prstGeom prst="rect">
            <a:avLst/>
          </a:prstGeom>
          <a:solidFill>
            <a:srgbClr val="6D4C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6565392"/>
            <a:ext cx="10972800" cy="164592"/>
          </a:xfrm>
          <a:prstGeom prst="rect">
            <a:avLst/>
          </a:prstGeom>
          <a:noFill/>
        </p:spPr>
        <p:txBody>
          <a:bodyPr wrap="none">
            <a:spAutoFit/>
          </a:bodyPr>
          <a:lstStyle/>
          <a:p>
            <a:pPr algn="l"/>
            <a:r>
              <a:rPr sz="750">
                <a:solidFill>
                  <a:srgbClr val="607082"/>
                </a:solidFill>
                <a:latin typeface="Aptos"/>
              </a:rPr>
              <a:t>CCC604 Assessment 8  |  Multi-Cloud Security Integration  |  24</a:t>
            </a:r>
          </a:p>
        </p:txBody>
      </p:sp>
      <p:sp>
        <p:nvSpPr>
          <p:cNvPr id="18" name="Oval 17"/>
          <p:cNvSpPr/>
          <p:nvPr/>
        </p:nvSpPr>
        <p:spPr>
          <a:xfrm>
            <a:off x="11292840" y="6537960"/>
            <a:ext cx="128016" cy="128016"/>
          </a:xfrm>
          <a:prstGeom prst="ellipse">
            <a:avLst/>
          </a:prstGeom>
          <a:solidFill>
            <a:srgbClr val="6D4C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0" y="0"/>
            <a:ext cx="146304" cy="6858000"/>
          </a:xfrm>
          <a:prstGeom prst="rect">
            <a:avLst/>
          </a:prstGeom>
          <a:solidFill>
            <a:srgbClr val="6D4C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0"/>
            <a:ext cx="12192000"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 0"/>
          <p:cNvSpPr/>
          <p:nvPr/>
        </p:nvSpPr>
        <p:spPr>
          <a:xfrm>
            <a:off x="502920" y="201168"/>
            <a:ext cx="7680960" cy="411480"/>
          </a:xfrm>
          <a:prstGeom prst="rect">
            <a:avLst/>
          </a:prstGeom>
          <a:noFill/>
          <a:ln/>
        </p:spPr>
        <p:txBody>
          <a:bodyPr wrap="square" lIns="18288" tIns="9144" rIns="18288" bIns="9144" rtlCol="0" anchor="ctr"/>
          <a:lstStyle/>
          <a:p>
            <a:pPr marL="0" indent="0">
              <a:buNone/>
            </a:pPr>
            <a:r>
              <a:rPr lang="en-US" sz="2700" b="1" dirty="0">
                <a:solidFill>
                  <a:srgbClr val="0B1F33"/>
                </a:solidFill>
                <a:latin typeface="Aptos"/>
              </a:rPr>
              <a:t>Monitoring and evidence used</a:t>
            </a:r>
            <a:endParaRPr lang="en-US" sz="2400" dirty="0"/>
          </a:p>
        </p:txBody>
      </p:sp>
      <p:sp>
        <p:nvSpPr>
          <p:cNvPr id="3" name="Text 1"/>
          <p:cNvSpPr/>
          <p:nvPr/>
        </p:nvSpPr>
        <p:spPr>
          <a:xfrm>
            <a:off x="530352" y="667512"/>
            <a:ext cx="7772400" cy="228600"/>
          </a:xfrm>
          <a:prstGeom prst="rect">
            <a:avLst/>
          </a:prstGeom>
          <a:noFill/>
          <a:ln/>
        </p:spPr>
        <p:txBody>
          <a:bodyPr wrap="square" lIns="18288" tIns="9144" rIns="18288" bIns="9144" rtlCol="0" anchor="ctr"/>
          <a:lstStyle/>
          <a:p>
            <a:pPr marL="0" indent="0">
              <a:buNone/>
            </a:pPr>
            <a:r>
              <a:rPr lang="en-US" sz="1350" dirty="0" b="0">
                <a:solidFill>
                  <a:srgbClr val="607082"/>
                </a:solidFill>
                <a:latin typeface="Aptos"/>
              </a:rPr>
              <a:t>What would support checking and troubleshooting</a:t>
            </a:r>
            <a:endParaRPr lang="en-US" sz="1050" dirty="0"/>
          </a:p>
        </p:txBody>
      </p:sp>
      <p:sp>
        <p:nvSpPr>
          <p:cNvPr id="4" name="Text 2"/>
          <p:cNvSpPr/>
          <p:nvPr/>
        </p:nvSpPr>
        <p:spPr>
          <a:xfrm>
            <a:off x="9372600" y="310896"/>
            <a:ext cx="2057400" cy="256032"/>
          </a:xfrm>
          <a:prstGeom prst="rect">
            <a:avLst/>
          </a:prstGeom>
          <a:solidFill>
            <a:srgbClr val="6D4CBC"/>
          </a:solidFill>
          <a:ln>
            <a:noFill/>
          </a:ln>
        </p:spPr>
        <p:txBody>
          <a:bodyPr wrap="square" lIns="18288" tIns="9144" rIns="18288" bIns="9144" rtlCol="0" anchor="ctr"/>
          <a:lstStyle/>
          <a:p>
            <a:pPr marL="0" indent="0" algn="ctr">
              <a:buNone/>
            </a:pPr>
            <a:r>
              <a:rPr lang="en-US" sz="950" b="1" dirty="0">
                <a:solidFill>
                  <a:srgbClr val="FFFFFF"/>
                </a:solidFill>
                <a:latin typeface="Aptos"/>
              </a:rPr>
              <a:t>Incident analysis</a:t>
            </a:r>
            <a:endParaRPr lang="en-US" sz="850" dirty="0"/>
          </a:p>
        </p:txBody>
      </p:sp>
      <p:sp>
        <p:nvSpPr>
          <p:cNvPr id="5" name="Text 3"/>
          <p:cNvSpPr/>
          <p:nvPr/>
        </p:nvSpPr>
        <p:spPr>
          <a:xfrm>
            <a:off x="594360" y="1207008"/>
            <a:ext cx="5120640" cy="201168"/>
          </a:xfrm>
          <a:prstGeom prst="rect">
            <a:avLst/>
          </a:prstGeom>
          <a:noFill/>
          <a:ln/>
        </p:spPr>
        <p:txBody>
          <a:bodyPr wrap="square" lIns="18288" tIns="9144" rIns="18288" bIns="9144" rtlCol="0" anchor="ctr">
            <a:normAutofit/>
          </a:bodyPr>
          <a:lstStyle/>
          <a:p>
            <a:pPr marL="0" indent="0">
              <a:buNone/>
            </a:pPr>
            <a:r>
              <a:rPr lang="en-US" sz="1200" b="1" dirty="0">
                <a:solidFill>
                  <a:srgbClr val="6D4CBC"/>
                </a:solidFill>
                <a:latin typeface="Aptos"/>
              </a:rPr>
              <a:t>AWS EVIDENCE</a:t>
            </a:r>
            <a:endParaRPr lang="en-US" sz="850" dirty="0"/>
          </a:p>
        </p:txBody>
      </p:sp>
      <p:sp>
        <p:nvSpPr>
          <p:cNvPr id="6" name="Text 4"/>
          <p:cNvSpPr/>
          <p:nvPr/>
        </p:nvSpPr>
        <p:spPr>
          <a:xfrm>
            <a:off x="594360" y="1536192"/>
            <a:ext cx="5120640" cy="4206240"/>
          </a:xfrm>
          <a:prstGeom prst="rect">
            <a:avLst/>
          </a:prstGeom>
          <a:noFill/>
          <a:ln/>
        </p:spPr>
        <p:txBody>
          <a:bodyPr wrap="square" lIns="18288" tIns="9144" rIns="18288" bIns="9144" rtlCol="0" anchor="ctr">
            <a:normAutofit/>
          </a:bodyPr>
          <a:lstStyle/>
          <a:p>
            <a:r>
              <a:rPr lang="en-US" sz="1800" dirty="0" b="0">
                <a:solidFill>
                  <a:srgbClr val="233040"/>
                </a:solidFill>
                <a:latin typeface="Aptos"/>
              </a:rPr>
              <a:t>EC2 Security Group inbound rules</a:t>
            </a:r>
            <a:endParaRPr lang="en-US" sz="1450" dirty="0"/>
          </a:p>
          <a:p>
            <a:r>
              <a:rPr lang="en-US" sz="1800" dirty="0" b="0">
                <a:solidFill>
                  <a:srgbClr val="233040"/>
                </a:solidFill>
                <a:latin typeface="Aptos"/>
              </a:rPr>
              <a:t>CloudTrail security group change activity</a:t>
            </a:r>
            <a:endParaRPr lang="en-US" sz="1450" dirty="0"/>
          </a:p>
          <a:p>
            <a:r>
              <a:rPr lang="en-US" sz="1800" dirty="0" b="0">
                <a:solidFill>
                  <a:srgbClr val="233040"/>
                </a:solidFill>
                <a:latin typeface="Aptos"/>
              </a:rPr>
              <a:t>CloudWatch monitoring and alerts</a:t>
            </a:r>
            <a:endParaRPr lang="en-US" sz="1450" dirty="0"/>
          </a:p>
          <a:p>
            <a:r>
              <a:rPr lang="en-US" sz="1800" dirty="0" b="0">
                <a:solidFill>
                  <a:srgbClr val="233040"/>
                </a:solidFill>
                <a:latin typeface="Aptos"/>
              </a:rPr>
              <a:t>EC2 system logs where available</a:t>
            </a:r>
            <a:endParaRPr lang="en-US" sz="1450" dirty="0"/>
          </a:p>
        </p:txBody>
      </p:sp>
      <p:sp>
        <p:nvSpPr>
          <p:cNvPr id="7" name="Text 5"/>
          <p:cNvSpPr/>
          <p:nvPr/>
        </p:nvSpPr>
        <p:spPr>
          <a:xfrm>
            <a:off x="6400800" y="1207008"/>
            <a:ext cx="5120640" cy="201168"/>
          </a:xfrm>
          <a:prstGeom prst="rect">
            <a:avLst/>
          </a:prstGeom>
          <a:noFill/>
          <a:ln/>
        </p:spPr>
        <p:txBody>
          <a:bodyPr wrap="square" lIns="18288" tIns="9144" rIns="18288" bIns="9144" rtlCol="0" anchor="ctr">
            <a:normAutofit/>
          </a:bodyPr>
          <a:lstStyle/>
          <a:p>
            <a:pPr marL="0" indent="0">
              <a:buNone/>
            </a:pPr>
            <a:r>
              <a:rPr lang="en-US" sz="1200" b="1" dirty="0">
                <a:solidFill>
                  <a:srgbClr val="6D4CBC"/>
                </a:solidFill>
                <a:latin typeface="Aptos"/>
              </a:rPr>
              <a:t>CROSS-CLOUD EVIDENCE</a:t>
            </a:r>
            <a:endParaRPr lang="en-US" sz="850" dirty="0"/>
          </a:p>
        </p:txBody>
      </p:sp>
      <p:sp>
        <p:nvSpPr>
          <p:cNvPr id="8" name="Text 6"/>
          <p:cNvSpPr/>
          <p:nvPr/>
        </p:nvSpPr>
        <p:spPr>
          <a:xfrm>
            <a:off x="6400800" y="1536192"/>
            <a:ext cx="5120640" cy="4206240"/>
          </a:xfrm>
          <a:prstGeom prst="rect">
            <a:avLst/>
          </a:prstGeom>
          <a:noFill/>
          <a:ln/>
        </p:spPr>
        <p:txBody>
          <a:bodyPr wrap="square" lIns="18288" tIns="9144" rIns="18288" bIns="9144" rtlCol="0" anchor="ctr">
            <a:normAutofit/>
          </a:bodyPr>
          <a:lstStyle/>
          <a:p>
            <a:r>
              <a:rPr lang="en-US" sz="1800" dirty="0" b="0">
                <a:solidFill>
                  <a:srgbClr val="233040"/>
                </a:solidFill>
                <a:latin typeface="Aptos"/>
              </a:rPr>
              <a:t>FortiGate VPN/firewall policy and logs</a:t>
            </a:r>
            <a:endParaRPr lang="en-US" sz="1450" dirty="0"/>
          </a:p>
          <a:p>
            <a:r>
              <a:rPr lang="en-US" sz="1800" dirty="0" b="0">
                <a:solidFill>
                  <a:srgbClr val="233040"/>
                </a:solidFill>
                <a:latin typeface="Aptos"/>
              </a:rPr>
              <a:t>Azure Monitor and Azure AD review</a:t>
            </a:r>
            <a:endParaRPr lang="en-US" sz="1450" dirty="0"/>
          </a:p>
          <a:p>
            <a:r>
              <a:rPr lang="en-US" sz="1800" dirty="0" b="0">
                <a:solidFill>
                  <a:srgbClr val="233040"/>
                </a:solidFill>
                <a:latin typeface="Aptos"/>
              </a:rPr>
              <a:t>Azure DNS status and HTTPS testing</a:t>
            </a:r>
            <a:endParaRPr lang="en-US" sz="1450" dirty="0"/>
          </a:p>
          <a:p>
            <a:r>
              <a:rPr lang="en-US" sz="1800" dirty="0" b="0">
                <a:solidFill>
                  <a:srgbClr val="233040"/>
                </a:solidFill>
                <a:latin typeface="Aptos"/>
              </a:rPr>
              <a:t>Final verification summary</a:t>
            </a:r>
            <a:endParaRPr lang="en-US" sz="1450" dirty="0"/>
          </a:p>
        </p:txBody>
      </p:sp>
      <p:sp>
        <p:nvSpPr>
          <p:cNvPr id="11" name="Rectangle 10"/>
          <p:cNvSpPr/>
          <p:nvPr/>
        </p:nvSpPr>
        <p:spPr>
          <a:xfrm>
            <a:off x="502920" y="960120"/>
            <a:ext cx="10881360" cy="22860"/>
          </a:xfrm>
          <a:prstGeom prst="rect">
            <a:avLst/>
          </a:prstGeom>
          <a:solidFill>
            <a:srgbClr val="6D4C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565392"/>
            <a:ext cx="10972800" cy="164592"/>
          </a:xfrm>
          <a:prstGeom prst="rect">
            <a:avLst/>
          </a:prstGeom>
          <a:noFill/>
        </p:spPr>
        <p:txBody>
          <a:bodyPr wrap="none">
            <a:spAutoFit/>
          </a:bodyPr>
          <a:lstStyle/>
          <a:p>
            <a:pPr algn="l"/>
            <a:r>
              <a:rPr sz="750">
                <a:solidFill>
                  <a:srgbClr val="607082"/>
                </a:solidFill>
                <a:latin typeface="Aptos"/>
              </a:rPr>
              <a:t>CCC604 Assessment 8  |  Multi-Cloud Security Integration  |  25</a:t>
            </a:r>
          </a:p>
        </p:txBody>
      </p:sp>
      <p:sp>
        <p:nvSpPr>
          <p:cNvPr id="13" name="Oval 12"/>
          <p:cNvSpPr/>
          <p:nvPr/>
        </p:nvSpPr>
        <p:spPr>
          <a:xfrm>
            <a:off x="11292840" y="6537960"/>
            <a:ext cx="128016" cy="128016"/>
          </a:xfrm>
          <a:prstGeom prst="ellipse">
            <a:avLst/>
          </a:prstGeom>
          <a:solidFill>
            <a:srgbClr val="6D4C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46304" cy="6858000"/>
          </a:xfrm>
          <a:prstGeom prst="rect">
            <a:avLst/>
          </a:prstGeom>
          <a:solidFill>
            <a:srgbClr val="2EA0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0"/>
            <a:ext cx="12192000"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 0"/>
          <p:cNvSpPr/>
          <p:nvPr/>
        </p:nvSpPr>
        <p:spPr>
          <a:xfrm>
            <a:off x="502920" y="201168"/>
            <a:ext cx="7680960" cy="411480"/>
          </a:xfrm>
          <a:prstGeom prst="rect">
            <a:avLst/>
          </a:prstGeom>
          <a:noFill/>
          <a:ln/>
        </p:spPr>
        <p:txBody>
          <a:bodyPr wrap="square" lIns="18288" tIns="9144" rIns="18288" bIns="9144" rtlCol="0" anchor="ctr"/>
          <a:lstStyle/>
          <a:p>
            <a:pPr marL="0" indent="0">
              <a:buNone/>
            </a:pPr>
            <a:r>
              <a:rPr lang="en-US" sz="2700" b="1" dirty="0">
                <a:solidFill>
                  <a:srgbClr val="0B1F33"/>
                </a:solidFill>
                <a:latin typeface="Aptos"/>
              </a:rPr>
              <a:t>Lessons learned</a:t>
            </a:r>
            <a:endParaRPr lang="en-US" sz="2400" dirty="0"/>
          </a:p>
        </p:txBody>
      </p:sp>
      <p:sp>
        <p:nvSpPr>
          <p:cNvPr id="3" name="Text 1"/>
          <p:cNvSpPr/>
          <p:nvPr/>
        </p:nvSpPr>
        <p:spPr>
          <a:xfrm>
            <a:off x="530352" y="667512"/>
            <a:ext cx="7772400" cy="228600"/>
          </a:xfrm>
          <a:prstGeom prst="rect">
            <a:avLst/>
          </a:prstGeom>
          <a:noFill/>
          <a:ln/>
        </p:spPr>
        <p:txBody>
          <a:bodyPr wrap="square" lIns="18288" tIns="9144" rIns="18288" bIns="9144" rtlCol="0" anchor="ctr"/>
          <a:lstStyle/>
          <a:p>
            <a:pPr marL="0" indent="0">
              <a:buNone/>
            </a:pPr>
            <a:r>
              <a:rPr lang="en-US" sz="1350" dirty="0" b="0">
                <a:solidFill>
                  <a:srgbClr val="607082"/>
                </a:solidFill>
                <a:latin typeface="Aptos"/>
              </a:rPr>
              <a:t>What the team would carry forward</a:t>
            </a:r>
            <a:endParaRPr lang="en-US" sz="1050" dirty="0"/>
          </a:p>
        </p:txBody>
      </p:sp>
      <p:sp>
        <p:nvSpPr>
          <p:cNvPr id="4" name="Text 2"/>
          <p:cNvSpPr/>
          <p:nvPr/>
        </p:nvSpPr>
        <p:spPr>
          <a:xfrm>
            <a:off x="9372600" y="310896"/>
            <a:ext cx="2057400" cy="256032"/>
          </a:xfrm>
          <a:prstGeom prst="rect">
            <a:avLst/>
          </a:prstGeom>
          <a:solidFill>
            <a:srgbClr val="2EA06B"/>
          </a:solidFill>
          <a:ln>
            <a:noFill/>
          </a:ln>
        </p:spPr>
        <p:txBody>
          <a:bodyPr wrap="square" lIns="18288" tIns="9144" rIns="18288" bIns="9144" rtlCol="0" anchor="ctr"/>
          <a:lstStyle/>
          <a:p>
            <a:pPr marL="0" indent="0" algn="ctr">
              <a:buNone/>
            </a:pPr>
            <a:r>
              <a:rPr lang="en-US" sz="950" b="1" dirty="0">
                <a:solidFill>
                  <a:srgbClr val="FFFFFF"/>
                </a:solidFill>
                <a:latin typeface="Aptos"/>
              </a:rPr>
              <a:t>Reflection</a:t>
            </a:r>
            <a:endParaRPr lang="en-US" sz="850" dirty="0"/>
          </a:p>
        </p:txBody>
      </p:sp>
      <p:sp>
        <p:nvSpPr>
          <p:cNvPr id="5" name="Text 3"/>
          <p:cNvSpPr/>
          <p:nvPr/>
        </p:nvSpPr>
        <p:spPr>
          <a:xfrm>
            <a:off x="868680" y="1143000"/>
            <a:ext cx="10424160" cy="4480560"/>
          </a:xfrm>
          <a:prstGeom prst="rect">
            <a:avLst/>
          </a:prstGeom>
          <a:noFill/>
          <a:ln/>
        </p:spPr>
        <p:txBody>
          <a:bodyPr wrap="square" lIns="18288" tIns="9144" rIns="18288" bIns="9144" rtlCol="0" anchor="ctr">
            <a:normAutofit/>
          </a:bodyPr>
          <a:lstStyle/>
          <a:p>
            <a:r>
              <a:rPr lang="en-US" sz="1600" dirty="0" b="0">
                <a:solidFill>
                  <a:srgbClr val="233040"/>
                </a:solidFill>
                <a:latin typeface="Aptos"/>
              </a:rPr>
              <a:t>Multi-cloud work is not just resource creation; services need to connect safely</a:t>
            </a:r>
            <a:endParaRPr lang="en-US" sz="1700" dirty="0"/>
          </a:p>
          <a:p>
            <a:r>
              <a:rPr lang="en-US" sz="1600" dirty="0" b="0">
                <a:solidFill>
                  <a:srgbClr val="233040"/>
                </a:solidFill>
                <a:latin typeface="Aptos"/>
              </a:rPr>
              <a:t>Small cloud configuration mistakes can create major exposure</a:t>
            </a:r>
            <a:endParaRPr lang="en-US" sz="1700" dirty="0"/>
          </a:p>
          <a:p>
            <a:r>
              <a:rPr lang="en-US" sz="1600" dirty="0" b="0">
                <a:solidFill>
                  <a:srgbClr val="233040"/>
                </a:solidFill>
                <a:latin typeface="Aptos"/>
              </a:rPr>
              <a:t>Security Groups, IAM/RBAC, DNS, VPN/firewall rules and monitoring must be reviewed together</a:t>
            </a:r>
            <a:endParaRPr lang="en-US" sz="1700" dirty="0"/>
          </a:p>
          <a:p>
            <a:r>
              <a:rPr lang="en-US" sz="1600" dirty="0" b="0">
                <a:solidFill>
                  <a:srgbClr val="233040"/>
                </a:solidFill>
                <a:latin typeface="Aptos"/>
              </a:rPr>
              <a:t>Screenshots and documentation are important because they prove what was configured</a:t>
            </a:r>
            <a:endParaRPr lang="en-US" sz="1700" dirty="0"/>
          </a:p>
          <a:p>
            <a:r>
              <a:rPr lang="en-US" sz="1600" dirty="0" b="0">
                <a:solidFill>
                  <a:srgbClr val="233040"/>
                </a:solidFill>
                <a:latin typeface="Aptos"/>
              </a:rPr>
              <a:t>Team communication helped keep AWS, Azure and Fortinet work aligned</a:t>
            </a:r>
            <a:endParaRPr lang="en-US" sz="1700" dirty="0"/>
          </a:p>
        </p:txBody>
      </p:sp>
      <p:sp>
        <p:nvSpPr>
          <p:cNvPr id="8" name="Rectangle 7"/>
          <p:cNvSpPr/>
          <p:nvPr/>
        </p:nvSpPr>
        <p:spPr>
          <a:xfrm>
            <a:off x="502920" y="960120"/>
            <a:ext cx="10881360" cy="22860"/>
          </a:xfrm>
          <a:prstGeom prst="rect">
            <a:avLst/>
          </a:prstGeom>
          <a:solidFill>
            <a:srgbClr val="2EA0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565392"/>
            <a:ext cx="10972800" cy="164592"/>
          </a:xfrm>
          <a:prstGeom prst="rect">
            <a:avLst/>
          </a:prstGeom>
          <a:noFill/>
        </p:spPr>
        <p:txBody>
          <a:bodyPr wrap="none">
            <a:spAutoFit/>
          </a:bodyPr>
          <a:lstStyle/>
          <a:p>
            <a:pPr algn="l"/>
            <a:r>
              <a:rPr sz="750">
                <a:solidFill>
                  <a:srgbClr val="607082"/>
                </a:solidFill>
                <a:latin typeface="Aptos"/>
              </a:rPr>
              <a:t>CCC604 Assessment 8  |  Multi-Cloud Security Integration  |  26</a:t>
            </a:r>
          </a:p>
        </p:txBody>
      </p:sp>
      <p:sp>
        <p:nvSpPr>
          <p:cNvPr id="10" name="Oval 9"/>
          <p:cNvSpPr/>
          <p:nvPr/>
        </p:nvSpPr>
        <p:spPr>
          <a:xfrm>
            <a:off x="11292840" y="6537960"/>
            <a:ext cx="128016" cy="128016"/>
          </a:xfrm>
          <a:prstGeom prst="ellipse">
            <a:avLst/>
          </a:prstGeom>
          <a:solidFill>
            <a:srgbClr val="2EA0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146304" cy="6858000"/>
          </a:xfrm>
          <a:prstGeom prst="rect">
            <a:avLst/>
          </a:prstGeom>
          <a:solidFill>
            <a:srgbClr val="00B2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0"/>
            <a:ext cx="12192000"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 0"/>
          <p:cNvSpPr/>
          <p:nvPr/>
        </p:nvSpPr>
        <p:spPr>
          <a:xfrm>
            <a:off x="502920" y="201168"/>
            <a:ext cx="7680960" cy="411480"/>
          </a:xfrm>
          <a:prstGeom prst="rect">
            <a:avLst/>
          </a:prstGeom>
          <a:noFill/>
          <a:ln/>
        </p:spPr>
        <p:txBody>
          <a:bodyPr wrap="square" lIns="18288" tIns="9144" rIns="18288" bIns="9144" rtlCol="0" anchor="ctr"/>
          <a:lstStyle/>
          <a:p>
            <a:pPr marL="0" indent="0">
              <a:buNone/>
            </a:pPr>
            <a:r>
              <a:rPr lang="en-US" sz="2700" b="1" dirty="0">
                <a:solidFill>
                  <a:srgbClr val="0B1F33"/>
                </a:solidFill>
                <a:latin typeface="Aptos"/>
              </a:rPr>
              <a:t>Conclusion</a:t>
            </a:r>
            <a:endParaRPr lang="en-US" sz="2400" dirty="0"/>
          </a:p>
        </p:txBody>
      </p:sp>
      <p:sp>
        <p:nvSpPr>
          <p:cNvPr id="3" name="Text 1"/>
          <p:cNvSpPr/>
          <p:nvPr/>
        </p:nvSpPr>
        <p:spPr>
          <a:xfrm>
            <a:off x="530352" y="667512"/>
            <a:ext cx="7772400" cy="228600"/>
          </a:xfrm>
          <a:prstGeom prst="rect">
            <a:avLst/>
          </a:prstGeom>
          <a:noFill/>
          <a:ln/>
        </p:spPr>
        <p:txBody>
          <a:bodyPr wrap="square" lIns="18288" tIns="9144" rIns="18288" bIns="9144" rtlCol="0" anchor="ctr"/>
          <a:lstStyle/>
          <a:p>
            <a:pPr marL="0" indent="0">
              <a:buNone/>
            </a:pPr>
            <a:r>
              <a:rPr lang="en-US" sz="1350" dirty="0" b="0">
                <a:solidFill>
                  <a:srgbClr val="607082"/>
                </a:solidFill>
                <a:latin typeface="Aptos"/>
              </a:rPr>
              <a:t>A secure, documented and verified multi-cloud project</a:t>
            </a:r>
            <a:endParaRPr lang="en-US" sz="1050" dirty="0"/>
          </a:p>
        </p:txBody>
      </p:sp>
      <p:sp>
        <p:nvSpPr>
          <p:cNvPr id="4" name="Text 2"/>
          <p:cNvSpPr/>
          <p:nvPr/>
        </p:nvSpPr>
        <p:spPr>
          <a:xfrm>
            <a:off x="9372600" y="310896"/>
            <a:ext cx="2057400" cy="256032"/>
          </a:xfrm>
          <a:prstGeom prst="rect">
            <a:avLst/>
          </a:prstGeom>
          <a:solidFill>
            <a:srgbClr val="00B2D6"/>
          </a:solidFill>
          <a:ln>
            <a:noFill/>
          </a:ln>
        </p:spPr>
        <p:txBody>
          <a:bodyPr wrap="square" lIns="18288" tIns="9144" rIns="18288" bIns="9144" rtlCol="0" anchor="ctr"/>
          <a:lstStyle/>
          <a:p>
            <a:pPr marL="0" indent="0" algn="ctr">
              <a:buNone/>
            </a:pPr>
            <a:r>
              <a:rPr lang="en-US" sz="950" b="1" dirty="0">
                <a:solidFill>
                  <a:srgbClr val="FFFFFF"/>
                </a:solidFill>
                <a:latin typeface="Aptos"/>
              </a:rPr>
              <a:t>Close</a:t>
            </a:r>
            <a:endParaRPr lang="en-US" sz="850" dirty="0"/>
          </a:p>
        </p:txBody>
      </p:sp>
      <p:pic>
        <p:nvPicPr>
          <p:cNvPr id="5" name="Image 0" descr="/mnt/data/ppt_assets/arch.png"/>
          <p:cNvPicPr>
            <a:picLocks noChangeAspect="1"/>
          </p:cNvPicPr>
          <p:nvPr/>
        </p:nvPicPr>
        <p:blipFill>
          <a:blip r:embed="rId3"/>
          <a:stretch>
            <a:fillRect/>
          </a:stretch>
        </p:blipFill>
        <p:spPr>
          <a:xfrm>
            <a:off x="7543800" y="1764068"/>
            <a:ext cx="3657600" cy="3512745"/>
          </a:xfrm>
          <a:prstGeom prst="rect">
            <a:avLst/>
          </a:prstGeom>
          <a:ln w="12700">
            <a:solidFill>
              <a:srgbClr val="D2DCE6"/>
            </a:solidFill>
          </a:ln>
        </p:spPr>
      </p:pic>
      <p:sp>
        <p:nvSpPr>
          <p:cNvPr id="6" name="Text 3"/>
          <p:cNvSpPr/>
          <p:nvPr/>
        </p:nvSpPr>
        <p:spPr>
          <a:xfrm>
            <a:off x="777240" y="1143000"/>
            <a:ext cx="6217920" cy="4480560"/>
          </a:xfrm>
          <a:prstGeom prst="rect">
            <a:avLst/>
          </a:prstGeom>
          <a:noFill/>
          <a:ln/>
        </p:spPr>
        <p:txBody>
          <a:bodyPr wrap="square" lIns="18288" tIns="9144" rIns="18288" bIns="9144" rtlCol="0" anchor="ctr">
            <a:normAutofit/>
          </a:bodyPr>
          <a:lstStyle/>
          <a:p>
            <a:r>
              <a:rPr lang="en-US" sz="1600" dirty="0" b="0">
                <a:solidFill>
                  <a:srgbClr val="233040"/>
                </a:solidFill>
                <a:latin typeface="Aptos"/>
              </a:rPr>
              <a:t>The project delivered a working AWS-hosted WordPress design</a:t>
            </a:r>
            <a:endParaRPr lang="en-US" sz="1650" dirty="0"/>
          </a:p>
          <a:p>
            <a:r>
              <a:rPr lang="en-US" sz="1600" dirty="0" b="0">
                <a:solidFill>
                  <a:srgbClr val="233040"/>
                </a:solidFill>
                <a:latin typeface="Aptos"/>
              </a:rPr>
              <a:t>Azure provided identity, DNS and access-testing support</a:t>
            </a:r>
            <a:endParaRPr lang="en-US" sz="1650" dirty="0"/>
          </a:p>
          <a:p>
            <a:r>
              <a:rPr lang="en-US" sz="1600" dirty="0" b="0">
                <a:solidFill>
                  <a:srgbClr val="233040"/>
                </a:solidFill>
                <a:latin typeface="Aptos"/>
              </a:rPr>
              <a:t>Fortinet added firewall/VPN security control to the design</a:t>
            </a:r>
            <a:endParaRPr lang="en-US" sz="1650" dirty="0"/>
          </a:p>
          <a:p>
            <a:r>
              <a:rPr lang="en-US" sz="1600" dirty="0" b="0">
                <a:solidFill>
                  <a:srgbClr val="233040"/>
                </a:solidFill>
                <a:latin typeface="Aptos"/>
              </a:rPr>
              <a:t>Risk and incident analysis showed how configuration mistakes are handled</a:t>
            </a:r>
            <a:endParaRPr lang="en-US" sz="1650" dirty="0"/>
          </a:p>
          <a:p>
            <a:r>
              <a:rPr lang="en-US" sz="1600" dirty="0" b="0">
                <a:solidFill>
                  <a:srgbClr val="233040"/>
                </a:solidFill>
                <a:latin typeface="Aptos"/>
              </a:rPr>
              <a:t>The final output demonstrates both technical security and team communication</a:t>
            </a:r>
            <a:endParaRPr lang="en-US" sz="1650" dirty="0"/>
          </a:p>
        </p:txBody>
      </p:sp>
      <p:sp>
        <p:nvSpPr>
          <p:cNvPr id="9" name="Rectangle 8"/>
          <p:cNvSpPr/>
          <p:nvPr/>
        </p:nvSpPr>
        <p:spPr>
          <a:xfrm>
            <a:off x="502920" y="960120"/>
            <a:ext cx="10881360" cy="22860"/>
          </a:xfrm>
          <a:prstGeom prst="rect">
            <a:avLst/>
          </a:prstGeom>
          <a:solidFill>
            <a:srgbClr val="00B2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565392"/>
            <a:ext cx="10972800" cy="164592"/>
          </a:xfrm>
          <a:prstGeom prst="rect">
            <a:avLst/>
          </a:prstGeom>
          <a:noFill/>
        </p:spPr>
        <p:txBody>
          <a:bodyPr wrap="none">
            <a:spAutoFit/>
          </a:bodyPr>
          <a:lstStyle/>
          <a:p>
            <a:pPr algn="l"/>
            <a:r>
              <a:rPr sz="750">
                <a:solidFill>
                  <a:srgbClr val="607082"/>
                </a:solidFill>
                <a:latin typeface="Aptos"/>
              </a:rPr>
              <a:t>CCC604 Assessment 8  |  Multi-Cloud Security Integration  |  27</a:t>
            </a:r>
          </a:p>
        </p:txBody>
      </p:sp>
      <p:sp>
        <p:nvSpPr>
          <p:cNvPr id="11" name="Oval 10"/>
          <p:cNvSpPr/>
          <p:nvPr/>
        </p:nvSpPr>
        <p:spPr>
          <a:xfrm>
            <a:off x="11292840" y="6537960"/>
            <a:ext cx="128016" cy="128016"/>
          </a:xfrm>
          <a:prstGeom prst="ellipse">
            <a:avLst/>
          </a:prstGeom>
          <a:solidFill>
            <a:srgbClr val="00B2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1005840"/>
            <a:ext cx="1097280" cy="45720"/>
          </a:xfrm>
          <a:prstGeom prst="rect">
            <a:avLst/>
          </a:prstGeom>
          <a:solidFill>
            <a:srgbClr val="00B2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sp>
        <p:nvSpPr>
          <p:cNvPr id="10" name="Rectangle 9"/>
          <p:cNvSpPr/>
          <p:nvPr/>
        </p:nvSpPr>
        <p:spPr>
          <a:xfrm>
            <a:off x="0" y="0"/>
            <a:ext cx="12192000" cy="6858000"/>
          </a:xfrm>
          <a:prstGeom prst="rect">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0"/>
            <a:ext cx="12192000" cy="146304"/>
          </a:xfrm>
          <a:prstGeom prst="rect">
            <a:avLst/>
          </a:prstGeom>
          <a:solidFill>
            <a:srgbClr val="00B2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91396FC-E8AA-FDD3-CA27-33263A048E97}"/>
              </a:ext>
            </a:extLst>
          </p:cNvPr>
          <p:cNvSpPr txBox="1"/>
          <p:nvPr/>
        </p:nvSpPr>
        <p:spPr>
          <a:xfrm>
            <a:off x="822960" y="2423160"/>
            <a:ext cx="10515600" cy="731520"/>
          </a:xfrm>
          <a:prstGeom prst="rect">
            <a:avLst/>
          </a:prstGeom>
          <a:noFill/>
        </p:spPr>
        <p:txBody>
          <a:bodyPr wrap="none" rtlCol="0" lIns="18288" rIns="18288" tIns="9144" bIns="9144">
            <a:spAutoFit/>
          </a:bodyPr>
          <a:lstStyle/>
          <a:p>
            <a:pPr algn="ctr"/>
            <a:r>
              <a:rPr lang="en-US" sz="5200" dirty="0" b="1">
                <a:solidFill>
                  <a:srgbClr val="FFFFFF"/>
                </a:solidFill>
                <a:latin typeface="Aptos" panose="03020602050506090804" pitchFamily="66" charset="0"/>
              </a:rPr>
              <a:t>Thank You</a:t>
            </a:r>
          </a:p>
        </p:txBody>
      </p:sp>
      <p:sp>
        <p:nvSpPr>
          <p:cNvPr id="7" name="TextBox 6"/>
          <p:cNvSpPr txBox="1"/>
          <p:nvPr/>
        </p:nvSpPr>
        <p:spPr>
          <a:xfrm>
            <a:off x="1920240" y="3246120"/>
            <a:ext cx="8412480" cy="457200"/>
          </a:xfrm>
          <a:prstGeom prst="rect">
            <a:avLst/>
          </a:prstGeom>
          <a:noFill/>
        </p:spPr>
        <p:txBody>
          <a:bodyPr wrap="none" lIns="18288" rIns="18288" tIns="9144" bIns="9144">
            <a:spAutoFit/>
          </a:bodyPr>
          <a:lstStyle/>
          <a:p>
            <a:pPr algn="ctr"/>
            <a:r>
              <a:rPr sz="1800" b="0">
                <a:solidFill>
                  <a:srgbClr val="DCE8F5"/>
                </a:solidFill>
                <a:latin typeface="Aptos"/>
              </a:rPr>
              <a:t>Student_Group_01-FT • Geni Bahar • Yusof Sharifzai • Hari Tamang</a:t>
            </a:r>
          </a:p>
        </p:txBody>
      </p:sp>
      <p:sp>
        <p:nvSpPr>
          <p:cNvPr id="8" name="TextBox 7"/>
          <p:cNvSpPr txBox="1"/>
          <p:nvPr/>
        </p:nvSpPr>
        <p:spPr>
          <a:xfrm>
            <a:off x="502920" y="6565392"/>
            <a:ext cx="10972800" cy="164592"/>
          </a:xfrm>
          <a:prstGeom prst="rect">
            <a:avLst/>
          </a:prstGeom>
          <a:noFill/>
        </p:spPr>
        <p:txBody>
          <a:bodyPr wrap="none">
            <a:spAutoFit/>
          </a:bodyPr>
          <a:lstStyle/>
          <a:p>
            <a:pPr algn="l"/>
            <a:r>
              <a:rPr sz="750">
                <a:solidFill>
                  <a:srgbClr val="96A8B9"/>
                </a:solidFill>
                <a:latin typeface="Aptos"/>
              </a:rPr>
              <a:t>CCC604 Assessment 8  |  Multi-Cloud Security Integration  |  28</a:t>
            </a:r>
          </a:p>
        </p:txBody>
      </p:sp>
      <p:sp>
        <p:nvSpPr>
          <p:cNvPr id="9" name="Oval 8"/>
          <p:cNvSpPr/>
          <p:nvPr/>
        </p:nvSpPr>
        <p:spPr>
          <a:xfrm>
            <a:off x="11292840" y="6537960"/>
            <a:ext cx="128016" cy="128016"/>
          </a:xfrm>
          <a:prstGeom prst="ellipse">
            <a:avLst/>
          </a:prstGeom>
          <a:solidFill>
            <a:srgbClr val="00B2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1347521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2962</Words>
  <Application>Microsoft Office PowerPoint</Application>
  <PresentationFormat>Widescreen</PresentationFormat>
  <Paragraphs>331</Paragraphs>
  <Slides>28</Slides>
  <Notes>27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Calibri</vt:lpstr>
      <vt:lpstr>Calibri Light</vt:lpstr>
      <vt:lpstr>Vivaldi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Anjana Kulasinghe</dc:creator>
  <cp:lastModifiedBy>Anjana Kulasinghe</cp:lastModifiedBy>
  <cp:revision>1</cp:revision>
  <dcterms:created xsi:type="dcterms:W3CDTF">2026-07-02T03:04:03Z</dcterms:created>
  <dcterms:modified xsi:type="dcterms:W3CDTF">2026-07-02T03:10:38Z</dcterms:modified>
</cp:coreProperties>
</file>